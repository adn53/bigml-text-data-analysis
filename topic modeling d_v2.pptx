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 id="2147483702" r:id="rId2"/>
  </p:sldMasterIdLst>
  <p:notesMasterIdLst>
    <p:notesMasterId r:id="rId46"/>
  </p:notesMasterIdLst>
  <p:sldIdLst>
    <p:sldId id="1342" r:id="rId3"/>
    <p:sldId id="1286" r:id="rId4"/>
    <p:sldId id="1287" r:id="rId5"/>
    <p:sldId id="1343" r:id="rId6"/>
    <p:sldId id="1344" r:id="rId7"/>
    <p:sldId id="1345" r:id="rId8"/>
    <p:sldId id="1346" r:id="rId9"/>
    <p:sldId id="1347" r:id="rId10"/>
    <p:sldId id="1348" r:id="rId11"/>
    <p:sldId id="1349" r:id="rId12"/>
    <p:sldId id="1350" r:id="rId13"/>
    <p:sldId id="1351" r:id="rId14"/>
    <p:sldId id="1352" r:id="rId15"/>
    <p:sldId id="1353" r:id="rId16"/>
    <p:sldId id="1354" r:id="rId17"/>
    <p:sldId id="1355" r:id="rId18"/>
    <p:sldId id="1357" r:id="rId19"/>
    <p:sldId id="1358" r:id="rId20"/>
    <p:sldId id="1359" r:id="rId21"/>
    <p:sldId id="1360" r:id="rId22"/>
    <p:sldId id="1361" r:id="rId23"/>
    <p:sldId id="1362" r:id="rId24"/>
    <p:sldId id="1363" r:id="rId25"/>
    <p:sldId id="1364" r:id="rId26"/>
    <p:sldId id="1365" r:id="rId27"/>
    <p:sldId id="1366" r:id="rId28"/>
    <p:sldId id="1367" r:id="rId29"/>
    <p:sldId id="1368" r:id="rId30"/>
    <p:sldId id="1369" r:id="rId31"/>
    <p:sldId id="1370" r:id="rId32"/>
    <p:sldId id="1371" r:id="rId33"/>
    <p:sldId id="1372" r:id="rId34"/>
    <p:sldId id="1373" r:id="rId35"/>
    <p:sldId id="1374" r:id="rId36"/>
    <p:sldId id="1375" r:id="rId37"/>
    <p:sldId id="1376" r:id="rId38"/>
    <p:sldId id="1377" r:id="rId39"/>
    <p:sldId id="1382" r:id="rId40"/>
    <p:sldId id="1378" r:id="rId41"/>
    <p:sldId id="1379" r:id="rId42"/>
    <p:sldId id="1380" r:id="rId43"/>
    <p:sldId id="1381" r:id="rId44"/>
    <p:sldId id="1341"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g,Il-Yeol"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478"/>
    <a:srgbClr val="FA8240"/>
    <a:srgbClr val="9AD862"/>
    <a:srgbClr val="FFD9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2" autoAdjust="0"/>
    <p:restoredTop sz="90329" autoAdjust="0"/>
  </p:normalViewPr>
  <p:slideViewPr>
    <p:cSldViewPr>
      <p:cViewPr varScale="1">
        <p:scale>
          <a:sx n="76" d="100"/>
          <a:sy n="76" d="100"/>
        </p:scale>
        <p:origin x="186" y="7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2062"/>
    </p:cViewPr>
  </p:sorterViewPr>
  <p:notesViewPr>
    <p:cSldViewPr>
      <p:cViewPr varScale="1">
        <p:scale>
          <a:sx n="83" d="100"/>
          <a:sy n="83" d="100"/>
        </p:scale>
        <p:origin x="-199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55675A-550F-4488-A850-6064B809430C}" type="datetimeFigureOut">
              <a:rPr lang="en-US" smtClean="0"/>
              <a:pPr/>
              <a:t>6/26/2020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225472-5868-4BE3-96E3-95E2C4FBCF04}" type="slidenum">
              <a:rPr lang="en-US" smtClean="0"/>
              <a:pPr/>
              <a:t>‹#›</a:t>
            </a:fld>
            <a:endParaRPr lang="en-US"/>
          </a:p>
        </p:txBody>
      </p:sp>
    </p:spTree>
    <p:extLst>
      <p:ext uri="{BB962C8B-B14F-4D97-AF65-F5344CB8AC3E}">
        <p14:creationId xmlns:p14="http://schemas.microsoft.com/office/powerpoint/2010/main" val="191122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p:spPr>
      </p:sp>
      <p:sp>
        <p:nvSpPr>
          <p:cNvPr id="11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EBD8F6D-8F13-48B9-B45F-98F1BD70163C}"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56445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13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2533B0E-CA0A-41E8-9279-FDC0C2B1CAC6}"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702463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39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B634F6-B048-4BAF-B0FF-AA91872D929A}"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724156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0290" name="Rectangle 1026"/>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140291" name="Rectangle 1027"/>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1028"/>
          <p:cNvSpPr>
            <a:spLocks noGrp="1" noChangeArrowheads="1"/>
          </p:cNvSpPr>
          <p:nvPr>
            <p:ph type="dt" sz="half" idx="10"/>
          </p:nvPr>
        </p:nvSpPr>
        <p:spPr>
          <a:xfrm>
            <a:off x="609600" y="6172200"/>
            <a:ext cx="1981200" cy="5334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fontAlgn="base">
              <a:spcBef>
                <a:spcPct val="0"/>
              </a:spcBef>
              <a:spcAft>
                <a:spcPct val="0"/>
              </a:spcAft>
              <a:defRPr/>
            </a:pPr>
            <a:endParaRPr lang="en-US" sz="2400">
              <a:solidFill>
                <a:srgbClr val="000000"/>
              </a:solidFill>
            </a:endParaRPr>
          </a:p>
        </p:txBody>
      </p:sp>
      <p:sp>
        <p:nvSpPr>
          <p:cNvPr id="6" name="Rectangle 1029"/>
          <p:cNvSpPr>
            <a:spLocks noGrp="1" noChangeArrowheads="1"/>
          </p:cNvSpPr>
          <p:nvPr>
            <p:ph type="ftr" sz="quarter" idx="11"/>
          </p:nvPr>
        </p:nvSpPr>
        <p:spPr>
          <a:xfrm>
            <a:off x="3124200" y="6248400"/>
            <a:ext cx="2895600" cy="457200"/>
          </a:xfrm>
        </p:spPr>
        <p:txBody>
          <a:bodyPr/>
          <a:lstStyle>
            <a:lvl1pPr>
              <a:defRPr/>
            </a:lvl1pPr>
          </a:lstStyle>
          <a:p>
            <a:pPr>
              <a:defRPr/>
            </a:pPr>
            <a:r>
              <a:rPr lang="en-US" dirty="0">
                <a:solidFill>
                  <a:srgbClr val="000000"/>
                </a:solidFill>
              </a:rPr>
              <a:t> </a:t>
            </a:r>
          </a:p>
        </p:txBody>
      </p:sp>
      <p:sp>
        <p:nvSpPr>
          <p:cNvPr id="7" name="Rectangle 1030"/>
          <p:cNvSpPr>
            <a:spLocks noGrp="1" noChangeArrowheads="1"/>
          </p:cNvSpPr>
          <p:nvPr>
            <p:ph type="sldNum" sz="quarter" idx="12"/>
          </p:nvPr>
        </p:nvSpPr>
        <p:spPr/>
        <p:txBody>
          <a:bodyPr/>
          <a:lstStyle>
            <a:lvl1pPr>
              <a:defRPr/>
            </a:lvl1pPr>
          </a:lstStyle>
          <a:p>
            <a:pPr>
              <a:defRPr/>
            </a:pPr>
            <a:fld id="{DD728E49-B72A-4F9E-A54D-FEAC8472D84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307724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066800"/>
            <a:ext cx="7772400" cy="5013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p:cNvSpPr>
            <a:spLocks noGrp="1"/>
          </p:cNvSpPr>
          <p:nvPr>
            <p:ph type="ftr" sz="quarter" idx="10"/>
          </p:nvPr>
        </p:nvSpPr>
        <p:spPr/>
        <p:txBody>
          <a:bodyPr/>
          <a:lstStyle>
            <a:lvl1pPr>
              <a:defRPr/>
            </a:lvl1pPr>
          </a:lstStyle>
          <a:p>
            <a:pPr>
              <a:defRPr/>
            </a:pPr>
            <a:r>
              <a:rPr lang="en-US" altLang="ko-KR" dirty="0">
                <a:solidFill>
                  <a:srgbClr val="000000"/>
                </a:solidFill>
              </a:rPr>
              <a:t> </a:t>
            </a:r>
            <a:endParaRPr lang="en-US" dirty="0">
              <a:solidFill>
                <a:srgbClr val="000000"/>
              </a:solidFill>
            </a:endParaRPr>
          </a:p>
        </p:txBody>
      </p:sp>
      <p:sp>
        <p:nvSpPr>
          <p:cNvPr id="5" name="Slide Number Placeholder 5"/>
          <p:cNvSpPr>
            <a:spLocks noGrp="1"/>
          </p:cNvSpPr>
          <p:nvPr>
            <p:ph type="sldNum" sz="quarter" idx="11"/>
          </p:nvPr>
        </p:nvSpPr>
        <p:spPr>
          <a:xfrm>
            <a:off x="7239000" y="6467475"/>
            <a:ext cx="1905000" cy="457200"/>
          </a:xfrm>
        </p:spPr>
        <p:txBody>
          <a:bodyPr/>
          <a:lstStyle>
            <a:lvl1pPr>
              <a:defRPr/>
            </a:lvl1pPr>
          </a:lstStyle>
          <a:p>
            <a:pPr>
              <a:defRPr/>
            </a:pPr>
            <a:fld id="{554AA4EE-E14B-4849-A6B6-FF8EAE47BB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402843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a:solidFill>
                  <a:srgbClr val="000000"/>
                </a:solidFill>
              </a:rPr>
              <a:t> </a:t>
            </a:r>
          </a:p>
        </p:txBody>
      </p:sp>
      <p:sp>
        <p:nvSpPr>
          <p:cNvPr id="6" name="Rectangle 6"/>
          <p:cNvSpPr>
            <a:spLocks noGrp="1" noChangeArrowheads="1"/>
          </p:cNvSpPr>
          <p:nvPr>
            <p:ph type="sldNum" sz="quarter" idx="11"/>
          </p:nvPr>
        </p:nvSpPr>
        <p:spPr>
          <a:ln/>
        </p:spPr>
        <p:txBody>
          <a:bodyPr/>
          <a:lstStyle>
            <a:lvl1pPr>
              <a:defRPr/>
            </a:lvl1pPr>
          </a:lstStyle>
          <a:p>
            <a:pPr>
              <a:defRPr/>
            </a:pPr>
            <a:fld id="{69C53DFD-5AB4-42B8-8E98-B1225630AE0E}"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125183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7"/>
          <p:cNvSpPr>
            <a:spLocks noGrp="1"/>
          </p:cNvSpPr>
          <p:nvPr>
            <p:ph type="ftr" sz="quarter" idx="10"/>
          </p:nvPr>
        </p:nvSpPr>
        <p:spPr/>
        <p:txBody>
          <a:bodyPr/>
          <a:lstStyle>
            <a:lvl1pPr>
              <a:defRPr smtClean="0">
                <a:ea typeface="Gulim" panose="020B0600000101010101" pitchFamily="34" charset="-127"/>
              </a:defRPr>
            </a:lvl1pPr>
          </a:lstStyle>
          <a:p>
            <a:pPr>
              <a:defRPr/>
            </a:pPr>
            <a:r>
              <a:rPr lang="en-US" altLang="ko-KR" dirty="0">
                <a:solidFill>
                  <a:srgbClr val="000000"/>
                </a:solidFill>
              </a:rPr>
              <a:t> </a:t>
            </a:r>
            <a:endParaRPr lang="en-US" altLang="en-US" dirty="0">
              <a:solidFill>
                <a:srgbClr val="000000"/>
              </a:solidFill>
            </a:endParaRPr>
          </a:p>
        </p:txBody>
      </p:sp>
      <p:sp>
        <p:nvSpPr>
          <p:cNvPr id="8" name="Slide Number Placeholder 8"/>
          <p:cNvSpPr>
            <a:spLocks noGrp="1"/>
          </p:cNvSpPr>
          <p:nvPr>
            <p:ph type="sldNum" sz="quarter" idx="11"/>
          </p:nvPr>
        </p:nvSpPr>
        <p:spPr/>
        <p:txBody>
          <a:bodyPr/>
          <a:lstStyle>
            <a:lvl1pPr>
              <a:defRPr/>
            </a:lvl1pPr>
          </a:lstStyle>
          <a:p>
            <a:pPr>
              <a:defRPr/>
            </a:pPr>
            <a:fld id="{680ECBE7-93EC-4EC4-B48D-EDBC167DB1A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75926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3"/>
          <p:cNvSpPr>
            <a:spLocks noGrp="1"/>
          </p:cNvSpPr>
          <p:nvPr>
            <p:ph type="ftr" sz="quarter" idx="10"/>
          </p:nvPr>
        </p:nvSpPr>
        <p:spPr/>
        <p:txBody>
          <a:bodyPr/>
          <a:lstStyle>
            <a:lvl1pPr>
              <a:defRPr smtClean="0">
                <a:ea typeface="Gulim" panose="020B0600000101010101" pitchFamily="34" charset="-127"/>
              </a:defRPr>
            </a:lvl1pPr>
          </a:lstStyle>
          <a:p>
            <a:pPr>
              <a:defRPr/>
            </a:pPr>
            <a:r>
              <a:rPr lang="en-US" altLang="ko-KR" dirty="0">
                <a:solidFill>
                  <a:srgbClr val="000000"/>
                </a:solidFill>
              </a:rPr>
              <a:t> </a:t>
            </a:r>
            <a:endParaRPr lang="en-US" altLang="en-US" dirty="0">
              <a:solidFill>
                <a:srgbClr val="000000"/>
              </a:solidFill>
            </a:endParaRPr>
          </a:p>
        </p:txBody>
      </p:sp>
      <p:sp>
        <p:nvSpPr>
          <p:cNvPr id="4" name="Slide Number Placeholder 4"/>
          <p:cNvSpPr>
            <a:spLocks noGrp="1"/>
          </p:cNvSpPr>
          <p:nvPr>
            <p:ph type="sldNum" sz="quarter" idx="11"/>
          </p:nvPr>
        </p:nvSpPr>
        <p:spPr/>
        <p:txBody>
          <a:bodyPr/>
          <a:lstStyle>
            <a:lvl1pPr>
              <a:defRPr/>
            </a:lvl1pPr>
          </a:lstStyle>
          <a:p>
            <a:pPr>
              <a:defRPr/>
            </a:pPr>
            <a:fld id="{A4E2AE17-3908-43BD-AE20-5CE5F072B354}"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019560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2"/>
          <p:cNvSpPr>
            <a:spLocks noGrp="1"/>
          </p:cNvSpPr>
          <p:nvPr>
            <p:ph type="ftr" sz="quarter" idx="10"/>
          </p:nvPr>
        </p:nvSpPr>
        <p:spPr/>
        <p:txBody>
          <a:bodyPr/>
          <a:lstStyle>
            <a:lvl1pPr>
              <a:defRPr/>
            </a:lvl1pPr>
          </a:lstStyle>
          <a:p>
            <a:pPr>
              <a:defRPr/>
            </a:pPr>
            <a:r>
              <a:rPr lang="en-US" altLang="ko-KR" dirty="0">
                <a:solidFill>
                  <a:srgbClr val="000000"/>
                </a:solidFill>
              </a:rPr>
              <a:t> </a:t>
            </a:r>
            <a:endParaRPr lang="en-US" dirty="0">
              <a:solidFill>
                <a:srgbClr val="000000"/>
              </a:solidFill>
            </a:endParaRPr>
          </a:p>
        </p:txBody>
      </p:sp>
      <p:sp>
        <p:nvSpPr>
          <p:cNvPr id="3" name="Slide Number Placeholder 3"/>
          <p:cNvSpPr>
            <a:spLocks noGrp="1"/>
          </p:cNvSpPr>
          <p:nvPr>
            <p:ph type="sldNum" sz="quarter" idx="11"/>
          </p:nvPr>
        </p:nvSpPr>
        <p:spPr/>
        <p:txBody>
          <a:bodyPr/>
          <a:lstStyle>
            <a:lvl1pPr>
              <a:defRPr/>
            </a:lvl1pPr>
          </a:lstStyle>
          <a:p>
            <a:pPr>
              <a:defRPr/>
            </a:pPr>
            <a:fld id="{169FBE24-515B-44DB-88BF-DDA58DBB9283}"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300083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172200"/>
            <a:ext cx="1981200" cy="5334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fontAlgn="base">
              <a:spcBef>
                <a:spcPct val="0"/>
              </a:spcBef>
              <a:spcAft>
                <a:spcPct val="0"/>
              </a:spcAft>
              <a:defRPr/>
            </a:pPr>
            <a:endParaRPr lang="en-US" sz="2400">
              <a:solidFill>
                <a:srgbClr val="000000"/>
              </a:solidFill>
            </a:endParaRPr>
          </a:p>
        </p:txBody>
      </p:sp>
      <p:sp>
        <p:nvSpPr>
          <p:cNvPr id="6" name="Rectangle 5"/>
          <p:cNvSpPr>
            <a:spLocks noGrp="1" noChangeArrowheads="1"/>
          </p:cNvSpPr>
          <p:nvPr>
            <p:ph type="ftr" sz="quarter" idx="11"/>
          </p:nvPr>
        </p:nvSpPr>
        <p:spPr/>
        <p:txBody>
          <a:bodyPr/>
          <a:lstStyle>
            <a:lvl1pPr>
              <a:defRPr smtClean="0">
                <a:ea typeface="Gulim" panose="020B0600000101010101" pitchFamily="34" charset="-127"/>
              </a:defRPr>
            </a:lvl1pPr>
          </a:lstStyle>
          <a:p>
            <a:pPr>
              <a:defRPr/>
            </a:pPr>
            <a:r>
              <a:rPr lang="en-US" altLang="ko-KR" dirty="0">
                <a:solidFill>
                  <a:srgbClr val="000000"/>
                </a:solidFill>
              </a:rPr>
              <a:t> </a:t>
            </a:r>
            <a:endParaRPr lang="en-US" altLang="en-US" dirty="0">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a:defRPr/>
            </a:pPr>
            <a:fld id="{0B3A2FB1-982F-4C1F-BEC1-5F9948B0B5C7}"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776374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685800" y="1524000"/>
            <a:ext cx="381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524000"/>
            <a:ext cx="381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86200"/>
            <a:ext cx="381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609600" y="6172200"/>
            <a:ext cx="1981200" cy="5334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fontAlgn="base">
              <a:spcBef>
                <a:spcPct val="0"/>
              </a:spcBef>
              <a:spcAft>
                <a:spcPct val="0"/>
              </a:spcAft>
              <a:defRPr/>
            </a:pPr>
            <a:endParaRPr lang="en-US" sz="2400">
              <a:solidFill>
                <a:srgbClr val="000000"/>
              </a:solidFill>
            </a:endParaRPr>
          </a:p>
        </p:txBody>
      </p:sp>
      <p:sp>
        <p:nvSpPr>
          <p:cNvPr id="7" name="Rectangle 5"/>
          <p:cNvSpPr>
            <a:spLocks noGrp="1" noChangeArrowheads="1"/>
          </p:cNvSpPr>
          <p:nvPr>
            <p:ph type="ftr" sz="quarter" idx="11"/>
          </p:nvPr>
        </p:nvSpPr>
        <p:spPr/>
        <p:txBody>
          <a:bodyPr/>
          <a:lstStyle>
            <a:lvl1pPr>
              <a:defRPr smtClean="0">
                <a:ea typeface="Gulim" panose="020B0600000101010101" pitchFamily="34" charset="-127"/>
              </a:defRPr>
            </a:lvl1pPr>
          </a:lstStyle>
          <a:p>
            <a:pPr>
              <a:defRPr/>
            </a:pPr>
            <a:r>
              <a:rPr lang="en-US" altLang="ko-KR" dirty="0">
                <a:solidFill>
                  <a:srgbClr val="000000"/>
                </a:solidFill>
              </a:rPr>
              <a:t> </a:t>
            </a:r>
            <a:endParaRPr lang="en-US" altLang="en-US" dirty="0">
              <a:solidFill>
                <a:srgbClr val="000000"/>
              </a:solidFill>
            </a:endParaRPr>
          </a:p>
        </p:txBody>
      </p:sp>
      <p:sp>
        <p:nvSpPr>
          <p:cNvPr id="8" name="Rectangle 6"/>
          <p:cNvSpPr>
            <a:spLocks noGrp="1" noChangeArrowheads="1"/>
          </p:cNvSpPr>
          <p:nvPr>
            <p:ph type="sldNum" sz="quarter" idx="12"/>
          </p:nvPr>
        </p:nvSpPr>
        <p:spPr/>
        <p:txBody>
          <a:bodyPr/>
          <a:lstStyle>
            <a:lvl1pPr>
              <a:defRPr/>
            </a:lvl1pPr>
          </a:lstStyle>
          <a:p>
            <a:pPr>
              <a:defRPr/>
            </a:pPr>
            <a:fld id="{06520F8A-227D-4F9B-A43A-F8056E0E84F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190828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685800" y="1524000"/>
            <a:ext cx="381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381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172200"/>
            <a:ext cx="1981200" cy="5334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fontAlgn="base">
              <a:spcBef>
                <a:spcPct val="0"/>
              </a:spcBef>
              <a:spcAft>
                <a:spcPct val="0"/>
              </a:spcAft>
              <a:defRPr/>
            </a:pPr>
            <a:endParaRPr lang="en-US" sz="2400">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a:defRPr/>
            </a:pPr>
            <a:r>
              <a:rPr lang="en-US" dirty="0">
                <a:solidFill>
                  <a:srgbClr val="000000"/>
                </a:solidFill>
              </a:rPr>
              <a:t> </a:t>
            </a:r>
          </a:p>
        </p:txBody>
      </p:sp>
      <p:sp>
        <p:nvSpPr>
          <p:cNvPr id="7" name="Rectangle 6"/>
          <p:cNvSpPr>
            <a:spLocks noGrp="1" noChangeArrowheads="1"/>
          </p:cNvSpPr>
          <p:nvPr>
            <p:ph type="sldNum" sz="quarter" idx="12"/>
          </p:nvPr>
        </p:nvSpPr>
        <p:spPr/>
        <p:txBody>
          <a:bodyPr/>
          <a:lstStyle>
            <a:lvl1pPr>
              <a:defRPr/>
            </a:lvl1pPr>
          </a:lstStyle>
          <a:p>
            <a:pPr>
              <a:defRPr/>
            </a:pPr>
            <a:fld id="{2A620667-3E2E-4318-968F-BD6A03CE7BF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30872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6858000" cy="914400"/>
          </a:xfrm>
        </p:spPr>
        <p:txBody>
          <a:bodyPr/>
          <a:lstStyle/>
          <a:p>
            <a:r>
              <a:rPr lang="en-US"/>
              <a:t>Click to edit Master title style</a:t>
            </a:r>
          </a:p>
        </p:txBody>
      </p:sp>
      <p:sp>
        <p:nvSpPr>
          <p:cNvPr id="3" name="Content Placeholder 2"/>
          <p:cNvSpPr>
            <a:spLocks noGrp="1"/>
          </p:cNvSpPr>
          <p:nvPr>
            <p:ph sz="half" idx="1"/>
          </p:nvPr>
        </p:nvSpPr>
        <p:spPr>
          <a:xfrm>
            <a:off x="685800" y="1524000"/>
            <a:ext cx="381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524000"/>
            <a:ext cx="381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86200"/>
            <a:ext cx="381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609600" y="6172200"/>
            <a:ext cx="1981200" cy="5334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fontAlgn="base">
              <a:spcBef>
                <a:spcPct val="0"/>
              </a:spcBef>
              <a:spcAft>
                <a:spcPct val="0"/>
              </a:spcAft>
              <a:defRPr/>
            </a:pPr>
            <a:endParaRPr lang="en-US" sz="2400">
              <a:solidFill>
                <a:srgbClr val="000000"/>
              </a:solidFill>
            </a:endParaRPr>
          </a:p>
        </p:txBody>
      </p:sp>
      <p:sp>
        <p:nvSpPr>
          <p:cNvPr id="7" name="Rectangle 5"/>
          <p:cNvSpPr>
            <a:spLocks noGrp="1" noChangeArrowheads="1"/>
          </p:cNvSpPr>
          <p:nvPr>
            <p:ph type="ftr" sz="quarter" idx="11"/>
          </p:nvPr>
        </p:nvSpPr>
        <p:spPr/>
        <p:txBody>
          <a:bodyPr/>
          <a:lstStyle>
            <a:lvl1pPr>
              <a:defRPr/>
            </a:lvl1pPr>
          </a:lstStyle>
          <a:p>
            <a:pPr>
              <a:defRPr/>
            </a:pPr>
            <a:r>
              <a:rPr lang="en-US" dirty="0">
                <a:solidFill>
                  <a:srgbClr val="000000"/>
                </a:solidFill>
              </a:rPr>
              <a:t> </a:t>
            </a:r>
          </a:p>
        </p:txBody>
      </p:sp>
      <p:sp>
        <p:nvSpPr>
          <p:cNvPr id="8" name="Rectangle 6"/>
          <p:cNvSpPr>
            <a:spLocks noGrp="1" noChangeArrowheads="1"/>
          </p:cNvSpPr>
          <p:nvPr>
            <p:ph type="sldNum" sz="quarter" idx="12"/>
          </p:nvPr>
        </p:nvSpPr>
        <p:spPr/>
        <p:txBody>
          <a:bodyPr/>
          <a:lstStyle>
            <a:lvl1pPr>
              <a:defRPr/>
            </a:lvl1pPr>
          </a:lstStyle>
          <a:p>
            <a:pPr>
              <a:defRPr/>
            </a:pPr>
            <a:fld id="{4E5989DB-3C8E-4BF3-A9D4-F54DA445704F}"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54476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924800" cy="1066800"/>
          </a:xfrm>
          <a:solidFill>
            <a:schemeClr val="bg1"/>
          </a:solidFill>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p:txBody>
          <a:bodyPr/>
          <a:lstStyle>
            <a:lvl1pPr>
              <a:defRPr/>
            </a:lvl1pPr>
          </a:lstStyle>
          <a:p>
            <a:pPr>
              <a:defRPr/>
            </a:pPr>
            <a:r>
              <a:rPr lang="en-US" dirty="0">
                <a:solidFill>
                  <a:srgbClr val="000000"/>
                </a:solidFill>
              </a:rPr>
              <a:t> </a:t>
            </a:r>
          </a:p>
        </p:txBody>
      </p:sp>
    </p:spTree>
    <p:extLst>
      <p:ext uri="{BB962C8B-B14F-4D97-AF65-F5344CB8AC3E}">
        <p14:creationId xmlns:p14="http://schemas.microsoft.com/office/powerpoint/2010/main" val="102119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6" name="Rectangle 15"/>
          <p:cNvSpPr>
            <a:spLocks/>
          </p:cNvSpPr>
          <p:nvPr userDrawn="1"/>
        </p:nvSpPr>
        <p:spPr>
          <a:xfrm>
            <a:off x="0" y="0"/>
            <a:ext cx="9144000" cy="5867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3" name="Subtitle 2"/>
          <p:cNvSpPr>
            <a:spLocks noGrp="1"/>
          </p:cNvSpPr>
          <p:nvPr>
            <p:ph type="subTitle" idx="1" hasCustomPrompt="1"/>
          </p:nvPr>
        </p:nvSpPr>
        <p:spPr>
          <a:xfrm>
            <a:off x="0" y="1992868"/>
            <a:ext cx="9144000" cy="685800"/>
          </a:xfrm>
          <a:prstGeom prst="rect">
            <a:avLst/>
          </a:prstGeom>
        </p:spPr>
        <p:txBody>
          <a:bodyPr/>
          <a:lstStyle>
            <a:lvl1pPr marL="0" indent="0" algn="ctr">
              <a:buNone/>
              <a:defRPr sz="3600" b="1" cap="all" baseline="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Presentation title</a:t>
            </a:r>
          </a:p>
        </p:txBody>
      </p:sp>
      <p:sp>
        <p:nvSpPr>
          <p:cNvPr id="19"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20"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21"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25" name="Text Placeholder 24"/>
          <p:cNvSpPr>
            <a:spLocks noGrp="1"/>
          </p:cNvSpPr>
          <p:nvPr>
            <p:ph type="body" sz="quarter" idx="10" hasCustomPrompt="1"/>
          </p:nvPr>
        </p:nvSpPr>
        <p:spPr>
          <a:xfrm>
            <a:off x="0" y="2819400"/>
            <a:ext cx="9144000" cy="533400"/>
          </a:xfrm>
          <a:prstGeom prst="rect">
            <a:avLst/>
          </a:prstGeom>
        </p:spPr>
        <p:txBody>
          <a:bodyPr/>
          <a:lstStyle>
            <a:lvl1pPr marL="0" indent="0" algn="ctr">
              <a:buNone/>
              <a:defRPr sz="2400">
                <a:solidFill>
                  <a:schemeClr val="bg1"/>
                </a:solidFill>
                <a:latin typeface="+mj-lt"/>
              </a:defRPr>
            </a:lvl1pPr>
          </a:lstStyle>
          <a:p>
            <a:pPr lvl="0"/>
            <a:r>
              <a:rPr lang="en-US" dirty="0"/>
              <a:t>Click to edit Presentation Subtitle</a:t>
            </a:r>
          </a:p>
        </p:txBody>
      </p:sp>
      <p:sp>
        <p:nvSpPr>
          <p:cNvPr id="27" name="Text Placeholder 26"/>
          <p:cNvSpPr>
            <a:spLocks noGrp="1"/>
          </p:cNvSpPr>
          <p:nvPr>
            <p:ph type="body" sz="quarter" idx="11" hasCustomPrompt="1"/>
          </p:nvPr>
        </p:nvSpPr>
        <p:spPr>
          <a:xfrm>
            <a:off x="0" y="3733800"/>
            <a:ext cx="9144000" cy="1066800"/>
          </a:xfrm>
          <a:prstGeom prst="rect">
            <a:avLst/>
          </a:prstGeom>
        </p:spPr>
        <p:txBody>
          <a:bodyPr/>
          <a:lstStyle>
            <a:lvl1pPr marL="0" indent="0" algn="ctr">
              <a:buNone/>
              <a:defRPr sz="1800" i="1" baseline="0">
                <a:solidFill>
                  <a:schemeClr val="tx1"/>
                </a:solidFill>
              </a:defRPr>
            </a:lvl1pPr>
          </a:lstStyle>
          <a:p>
            <a:pPr lvl="0"/>
            <a:r>
              <a:rPr lang="en-US" dirty="0"/>
              <a:t>Click to edit Presenter’s Name</a:t>
            </a:r>
          </a:p>
        </p:txBody>
      </p:sp>
    </p:spTree>
    <p:extLst>
      <p:ext uri="{BB962C8B-B14F-4D97-AF65-F5344CB8AC3E}">
        <p14:creationId xmlns:p14="http://schemas.microsoft.com/office/powerpoint/2010/main" val="822172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09600"/>
            <a:ext cx="8229600" cy="4953000"/>
          </a:xfrm>
          <a:prstGeom prst="rect">
            <a:avLst/>
          </a:prstGeo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9"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0"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1299703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685800"/>
            <a:ext cx="7772400" cy="1362075"/>
          </a:xfrm>
          <a:prstGeom prst="rect">
            <a:avLst/>
          </a:prstGeom>
        </p:spPr>
        <p:txBody>
          <a:bodyPr anchor="t"/>
          <a:lstStyle>
            <a:lvl1pPr algn="l">
              <a:defRPr sz="4000" b="1" cap="all">
                <a:solidFill>
                  <a:schemeClr val="tx2"/>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762000" y="2133600"/>
            <a:ext cx="7696200" cy="3200400"/>
          </a:xfrm>
          <a:prstGeom prst="rect">
            <a:avLst/>
          </a:prstGeo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1"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2"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3566788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762000"/>
            <a:ext cx="4038600" cy="4525963"/>
          </a:xfrm>
          <a:prstGeom prst="rect">
            <a:avLst/>
          </a:prstGeom>
        </p:spPr>
        <p:txBody>
          <a:bodyPr/>
          <a:lstStyle>
            <a:lvl1pPr>
              <a:defRPr sz="2800">
                <a:solidFill>
                  <a:schemeClr val="accent6"/>
                </a:solidFill>
              </a:defRPr>
            </a:lvl1pPr>
            <a:lvl2pPr>
              <a:defRPr sz="2400">
                <a:solidFill>
                  <a:schemeClr val="accent6"/>
                </a:solidFill>
              </a:defRPr>
            </a:lvl2pPr>
            <a:lvl3pPr>
              <a:defRPr sz="2000">
                <a:solidFill>
                  <a:schemeClr val="accent6"/>
                </a:solidFill>
              </a:defRPr>
            </a:lvl3pPr>
            <a:lvl4pPr>
              <a:defRPr sz="1800">
                <a:solidFill>
                  <a:schemeClr val="accent6"/>
                </a:solidFill>
              </a:defRPr>
            </a:lvl4pPr>
            <a:lvl5pPr>
              <a:defRPr sz="1800">
                <a:solidFill>
                  <a:schemeClr val="accent6"/>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762000"/>
            <a:ext cx="4038600" cy="4525963"/>
          </a:xfrm>
          <a:prstGeom prst="rect">
            <a:avLst/>
          </a:prstGeom>
        </p:spPr>
        <p:txBody>
          <a:bodyPr/>
          <a:lstStyle>
            <a:lvl1pPr>
              <a:defRPr sz="2800">
                <a:solidFill>
                  <a:schemeClr val="accent6"/>
                </a:solidFill>
              </a:defRPr>
            </a:lvl1pPr>
            <a:lvl2pPr>
              <a:defRPr sz="2400">
                <a:solidFill>
                  <a:schemeClr val="accent6"/>
                </a:solidFill>
              </a:defRPr>
            </a:lvl2pPr>
            <a:lvl3pPr>
              <a:defRPr sz="2000">
                <a:solidFill>
                  <a:schemeClr val="accent6"/>
                </a:solidFill>
              </a:defRPr>
            </a:lvl3pPr>
            <a:lvl4pPr>
              <a:defRPr sz="1800">
                <a:solidFill>
                  <a:schemeClr val="accent6"/>
                </a:solidFill>
              </a:defRPr>
            </a:lvl4pPr>
            <a:lvl5pPr>
              <a:defRPr sz="1800">
                <a:solidFill>
                  <a:schemeClr val="accent6"/>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3"/>
          <p:cNvSpPr>
            <a:spLocks noGrp="1"/>
          </p:cNvSpPr>
          <p:nvPr>
            <p:ph type="dt" sz="half" idx="10"/>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3"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4"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1561404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655639"/>
            <a:ext cx="4040188" cy="639762"/>
          </a:xfrm>
          <a:prstGeom prst="rect">
            <a:avLst/>
          </a:prstGeom>
        </p:spPr>
        <p:txBody>
          <a:bodyPr anchor="b"/>
          <a:lstStyle>
            <a:lvl1pPr marL="0" indent="0">
              <a:buNone/>
              <a:defRPr sz="2400" b="1" cap="all"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371600"/>
            <a:ext cx="4040188" cy="3763963"/>
          </a:xfrm>
          <a:prstGeom prst="rect">
            <a:avLst/>
          </a:prstGeom>
        </p:spPr>
        <p:txBody>
          <a:bodyPr/>
          <a:lstStyle>
            <a:lvl1pPr>
              <a:defRPr sz="2400">
                <a:solidFill>
                  <a:schemeClr val="accent6"/>
                </a:solidFill>
              </a:defRPr>
            </a:lvl1pPr>
            <a:lvl2pPr>
              <a:defRPr sz="2000">
                <a:solidFill>
                  <a:schemeClr val="accent6"/>
                </a:solidFill>
              </a:defRPr>
            </a:lvl2pPr>
            <a:lvl3pPr>
              <a:defRPr sz="1800">
                <a:solidFill>
                  <a:schemeClr val="accent6"/>
                </a:solidFill>
              </a:defRPr>
            </a:lvl3pPr>
            <a:lvl4pPr>
              <a:defRPr sz="1600">
                <a:solidFill>
                  <a:schemeClr val="accent6"/>
                </a:solidFill>
              </a:defRPr>
            </a:lvl4pPr>
            <a:lvl5pPr>
              <a:defRPr sz="1600">
                <a:solidFill>
                  <a:schemeClr val="accent6"/>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655639"/>
            <a:ext cx="4041775" cy="639762"/>
          </a:xfrm>
          <a:prstGeom prst="rect">
            <a:avLst/>
          </a:prstGeom>
        </p:spPr>
        <p:txBody>
          <a:bodyPr anchor="b"/>
          <a:lstStyle>
            <a:lvl1pPr marL="0" indent="0">
              <a:buNone/>
              <a:defRPr sz="2400" b="1" cap="all"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371600"/>
            <a:ext cx="4041775" cy="3763963"/>
          </a:xfrm>
          <a:prstGeom prst="rect">
            <a:avLst/>
          </a:prstGeom>
        </p:spPr>
        <p:txBody>
          <a:bodyPr/>
          <a:lstStyle>
            <a:lvl1pPr>
              <a:defRPr sz="2400">
                <a:solidFill>
                  <a:schemeClr val="accent6"/>
                </a:solidFill>
              </a:defRPr>
            </a:lvl1pPr>
            <a:lvl2pPr>
              <a:defRPr sz="2000">
                <a:solidFill>
                  <a:schemeClr val="accent6"/>
                </a:solidFill>
              </a:defRPr>
            </a:lvl2pPr>
            <a:lvl3pPr>
              <a:defRPr sz="1800">
                <a:solidFill>
                  <a:schemeClr val="accent6"/>
                </a:solidFill>
              </a:defRPr>
            </a:lvl3pPr>
            <a:lvl4pPr>
              <a:defRPr sz="1600">
                <a:solidFill>
                  <a:schemeClr val="accent6"/>
                </a:solidFill>
              </a:defRPr>
            </a:lvl4pPr>
            <a:lvl5pPr>
              <a:defRPr sz="1600">
                <a:solidFill>
                  <a:schemeClr val="accent6"/>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3"/>
          <p:cNvSpPr>
            <a:spLocks noGrp="1"/>
          </p:cNvSpPr>
          <p:nvPr>
            <p:ph type="dt" sz="half" idx="10"/>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5" name="Footer Placeholder 4"/>
          <p:cNvSpPr>
            <a:spLocks noGrp="1"/>
          </p:cNvSpPr>
          <p:nvPr>
            <p:ph type="ftr" sz="quarter" idx="11"/>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6" name="Slide Number Placeholder 5"/>
          <p:cNvSpPr>
            <a:spLocks noGrp="1"/>
          </p:cNvSpPr>
          <p:nvPr>
            <p:ph type="sldNum" sz="quarter" idx="12"/>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8480234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2"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3"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5" name="Text Placeholder 4"/>
          <p:cNvSpPr>
            <a:spLocks noGrp="1"/>
          </p:cNvSpPr>
          <p:nvPr>
            <p:ph type="body" sz="quarter" idx="10" hasCustomPrompt="1"/>
          </p:nvPr>
        </p:nvSpPr>
        <p:spPr>
          <a:xfrm>
            <a:off x="0" y="381000"/>
            <a:ext cx="9144000" cy="990600"/>
          </a:xfrm>
          <a:prstGeom prst="rect">
            <a:avLst/>
          </a:prstGeom>
        </p:spPr>
        <p:txBody>
          <a:bodyPr/>
          <a:lstStyle>
            <a:lvl1pPr marL="0" indent="0" algn="ctr">
              <a:buNone/>
              <a:defRPr sz="4000" b="1" cap="all" baseline="0">
                <a:latin typeface="+mj-lt"/>
              </a:defRPr>
            </a:lvl1pPr>
          </a:lstStyle>
          <a:p>
            <a:pPr lvl="0"/>
            <a:r>
              <a:rPr lang="en-US" dirty="0"/>
              <a:t>Click to edit title</a:t>
            </a:r>
          </a:p>
        </p:txBody>
      </p:sp>
    </p:spTree>
    <p:extLst>
      <p:ext uri="{BB962C8B-B14F-4D97-AF65-F5344CB8AC3E}">
        <p14:creationId xmlns:p14="http://schemas.microsoft.com/office/powerpoint/2010/main" val="107025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85799"/>
            <a:ext cx="3008313" cy="685800"/>
          </a:xfrm>
          <a:prstGeom prst="rect">
            <a:avLst/>
          </a:prstGeom>
        </p:spPr>
        <p:txBody>
          <a:bodyPr anchor="b"/>
          <a:lstStyle>
            <a:lvl1pPr algn="l">
              <a:defRPr sz="2000" b="1" cap="all"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3575050" y="685800"/>
            <a:ext cx="5111750" cy="4495800"/>
          </a:xfrm>
          <a:prstGeom prst="rect">
            <a:avLst/>
          </a:prstGeom>
        </p:spPr>
        <p:txBody>
          <a:bodyPr/>
          <a:lstStyle>
            <a:lvl1pPr>
              <a:defRPr sz="3200">
                <a:solidFill>
                  <a:schemeClr val="accent6"/>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47800"/>
            <a:ext cx="3008313" cy="3733800"/>
          </a:xfrm>
          <a:prstGeom prst="rect">
            <a:avLst/>
          </a:prstGeom>
        </p:spPr>
        <p:txBody>
          <a:bodyPr/>
          <a:lstStyle>
            <a:lvl1pPr marL="0" indent="0">
              <a:buNone/>
              <a:defRPr sz="1400">
                <a:solidFill>
                  <a:schemeClr val="accent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Date Placeholder 3"/>
          <p:cNvSpPr>
            <a:spLocks noGrp="1"/>
          </p:cNvSpPr>
          <p:nvPr>
            <p:ph type="dt" sz="half" idx="10"/>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5"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6"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33098725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7315200" cy="566738"/>
          </a:xfrm>
          <a:prstGeom prst="rect">
            <a:avLst/>
          </a:prstGeom>
        </p:spPr>
        <p:txBody>
          <a:bodyPr anchor="b"/>
          <a:lstStyle>
            <a:lvl1pPr algn="l">
              <a:defRPr sz="2000" b="1" cap="all"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914400" y="1981199"/>
            <a:ext cx="7315200" cy="3355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914400" y="1176338"/>
            <a:ext cx="7315200" cy="804862"/>
          </a:xfrm>
          <a:prstGeom prst="rect">
            <a:avLst/>
          </a:prstGeom>
        </p:spPr>
        <p:txBody>
          <a:bodyPr/>
          <a:lstStyle>
            <a:lvl1pPr marL="0" indent="0">
              <a:buNone/>
              <a:defRPr sz="1400" baseline="0">
                <a:solidFill>
                  <a:schemeClr val="accent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Date Placeholder 3"/>
          <p:cNvSpPr>
            <a:spLocks noGrp="1"/>
          </p:cNvSpPr>
          <p:nvPr>
            <p:ph type="dt" sz="half" idx="10"/>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4"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5"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1720490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457200" y="685800"/>
            <a:ext cx="8229600" cy="4525963"/>
          </a:xfrm>
          <a:prstGeom prst="rect">
            <a:avLst/>
          </a:prstGeom>
        </p:spPr>
        <p:txBody>
          <a:bodyPr vert="eaVert"/>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3"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4"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3266758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4648201"/>
          </a:xfrm>
          <a:prstGeom prst="rect">
            <a:avLst/>
          </a:prstGeom>
        </p:spPr>
        <p:txBody>
          <a:bodyPr vert="eaVert"/>
          <a:lstStyle>
            <a:lvl1pPr>
              <a:defRPr cap="all" baseline="0">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4648201"/>
          </a:xfrm>
          <a:prstGeom prst="rect">
            <a:avLst/>
          </a:prstGeom>
        </p:spPr>
        <p:txBody>
          <a:bodyPr vert="eaVert"/>
          <a:lstStyle>
            <a:lvl1pPr>
              <a:defRPr baseline="0">
                <a:solidFill>
                  <a:schemeClr val="accent6"/>
                </a:solidFill>
              </a:defRPr>
            </a:lvl1pPr>
            <a:lvl2pPr>
              <a:defRPr baseline="0">
                <a:solidFill>
                  <a:schemeClr val="accent6"/>
                </a:solidFill>
              </a:defRPr>
            </a:lvl2pPr>
            <a:lvl3pPr>
              <a:defRPr baseline="0">
                <a:solidFill>
                  <a:schemeClr val="accent6"/>
                </a:solidFill>
              </a:defRPr>
            </a:lvl3pPr>
            <a:lvl4pPr>
              <a:defRPr baseline="0">
                <a:solidFill>
                  <a:schemeClr val="accent6"/>
                </a:solidFill>
              </a:defRPr>
            </a:lvl4pPr>
            <a:lvl5pPr>
              <a:defRPr baseline="0">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3"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4"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Tree>
    <p:extLst>
      <p:ext uri="{BB962C8B-B14F-4D97-AF65-F5344CB8AC3E}">
        <p14:creationId xmlns:p14="http://schemas.microsoft.com/office/powerpoint/2010/main" val="3955882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35844" y="78070"/>
            <a:ext cx="6858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762000" y="1235094"/>
            <a:ext cx="7772400" cy="501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989" name="Rectangle 5"/>
          <p:cNvSpPr>
            <a:spLocks noGrp="1" noChangeArrowheads="1"/>
          </p:cNvSpPr>
          <p:nvPr>
            <p:ph type="ftr" sz="quarter" idx="3"/>
          </p:nvPr>
        </p:nvSpPr>
        <p:spPr bwMode="auto">
          <a:xfrm>
            <a:off x="3124200" y="64770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Times New Roman" pitchFamily="18" charset="0"/>
                <a:ea typeface="굴림" pitchFamily="50" charset="-127"/>
              </a:defRPr>
            </a:lvl1pPr>
          </a:lstStyle>
          <a:p>
            <a:pPr fontAlgn="base">
              <a:spcBef>
                <a:spcPct val="0"/>
              </a:spcBef>
              <a:spcAft>
                <a:spcPct val="0"/>
              </a:spcAft>
              <a:defRPr/>
            </a:pPr>
            <a:r>
              <a:rPr lang="en-US" dirty="0">
                <a:solidFill>
                  <a:srgbClr val="000000"/>
                </a:solidFill>
              </a:rPr>
              <a:t> </a:t>
            </a:r>
          </a:p>
        </p:txBody>
      </p:sp>
      <p:sp>
        <p:nvSpPr>
          <p:cNvPr id="41990" name="Rectangle 6"/>
          <p:cNvSpPr>
            <a:spLocks noGrp="1" noChangeArrowheads="1"/>
          </p:cNvSpPr>
          <p:nvPr>
            <p:ph type="sldNum" sz="quarter" idx="4"/>
          </p:nvPr>
        </p:nvSpPr>
        <p:spPr bwMode="auto">
          <a:xfrm>
            <a:off x="7239000" y="6400799"/>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fontAlgn="base">
              <a:spcBef>
                <a:spcPct val="0"/>
              </a:spcBef>
              <a:spcAft>
                <a:spcPct val="0"/>
              </a:spcAft>
              <a:defRPr/>
            </a:pPr>
            <a:fld id="{F9E41149-2D20-468C-9DDE-6EE75F9F42CB}" type="slidenum">
              <a:rPr lang="en-US" altLang="en-US">
                <a:solidFill>
                  <a:srgbClr val="000000"/>
                </a:solidFill>
              </a:rPr>
              <a:pPr fontAlgn="base">
                <a:spcBef>
                  <a:spcPct val="0"/>
                </a:spcBef>
                <a:spcAft>
                  <a:spcPct val="0"/>
                </a:spcAft>
                <a:defRPr/>
              </a:pPr>
              <a:t>‹#›</a:t>
            </a:fld>
            <a:endParaRPr lang="en-US" altLang="en-US">
              <a:solidFill>
                <a:srgbClr val="000000"/>
              </a:solidFill>
            </a:endParaRPr>
          </a:p>
        </p:txBody>
      </p:sp>
      <p:pic>
        <p:nvPicPr>
          <p:cNvPr id="1031" name="Picture 5"/>
          <p:cNvPicPr>
            <a:picLocks noChangeAspect="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77000"/>
            <a:ext cx="20716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5755854"/>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7" r:id="rId3"/>
    <p:sldLayoutId id="2147483688" r:id="rId4"/>
    <p:sldLayoutId id="2147483689" r:id="rId5"/>
    <p:sldLayoutId id="2147483690" r:id="rId6"/>
    <p:sldLayoutId id="2147483691" r:id="rId7"/>
    <p:sldLayoutId id="2147483695" r:id="rId8"/>
    <p:sldLayoutId id="2147483696" r:id="rId9"/>
    <p:sldLayoutId id="2147483697" r:id="rId10"/>
    <p:sldLayoutId id="2147483698" r:id="rId11"/>
  </p:sldLayoutIdLst>
  <p:hf hdr="0" dt="0"/>
  <p:txStyles>
    <p:titleStyle>
      <a:lvl1pPr algn="ctr" rtl="0" eaLnBrk="0" fontAlgn="base" hangingPunct="0">
        <a:spcBef>
          <a:spcPct val="0"/>
        </a:spcBef>
        <a:spcAft>
          <a:spcPct val="0"/>
        </a:spcAft>
        <a:defRPr sz="3200" b="1">
          <a:solidFill>
            <a:srgbClr val="000099"/>
          </a:solidFill>
          <a:latin typeface="+mj-lt"/>
          <a:ea typeface="+mj-ea"/>
          <a:cs typeface="+mj-cs"/>
        </a:defRPr>
      </a:lvl1pPr>
      <a:lvl2pPr algn="ctr" rtl="0" eaLnBrk="0" fontAlgn="base" hangingPunct="0">
        <a:spcBef>
          <a:spcPct val="0"/>
        </a:spcBef>
        <a:spcAft>
          <a:spcPct val="0"/>
        </a:spcAft>
        <a:defRPr sz="3200" b="1">
          <a:solidFill>
            <a:srgbClr val="000099"/>
          </a:solidFill>
          <a:latin typeface="Times New Roman" pitchFamily="18" charset="0"/>
        </a:defRPr>
      </a:lvl2pPr>
      <a:lvl3pPr algn="ctr" rtl="0" eaLnBrk="0" fontAlgn="base" hangingPunct="0">
        <a:spcBef>
          <a:spcPct val="0"/>
        </a:spcBef>
        <a:spcAft>
          <a:spcPct val="0"/>
        </a:spcAft>
        <a:defRPr sz="3200" b="1">
          <a:solidFill>
            <a:srgbClr val="000099"/>
          </a:solidFill>
          <a:latin typeface="Times New Roman" pitchFamily="18" charset="0"/>
        </a:defRPr>
      </a:lvl3pPr>
      <a:lvl4pPr algn="ctr" rtl="0" eaLnBrk="0" fontAlgn="base" hangingPunct="0">
        <a:spcBef>
          <a:spcPct val="0"/>
        </a:spcBef>
        <a:spcAft>
          <a:spcPct val="0"/>
        </a:spcAft>
        <a:defRPr sz="3200" b="1">
          <a:solidFill>
            <a:srgbClr val="000099"/>
          </a:solidFill>
          <a:latin typeface="Times New Roman" pitchFamily="18" charset="0"/>
        </a:defRPr>
      </a:lvl4pPr>
      <a:lvl5pPr algn="ctr" rtl="0" eaLnBrk="0" fontAlgn="base" hangingPunct="0">
        <a:spcBef>
          <a:spcPct val="0"/>
        </a:spcBef>
        <a:spcAft>
          <a:spcPct val="0"/>
        </a:spcAft>
        <a:defRPr sz="3200" b="1">
          <a:solidFill>
            <a:srgbClr val="000099"/>
          </a:solidFill>
          <a:latin typeface="Times New Roman" pitchFamily="18" charset="0"/>
        </a:defRPr>
      </a:lvl5pPr>
      <a:lvl6pPr marL="457200" algn="ctr" rtl="0" fontAlgn="base">
        <a:spcBef>
          <a:spcPct val="0"/>
        </a:spcBef>
        <a:spcAft>
          <a:spcPct val="0"/>
        </a:spcAft>
        <a:defRPr sz="3200" b="1">
          <a:solidFill>
            <a:srgbClr val="000099"/>
          </a:solidFill>
          <a:latin typeface="Times New Roman" pitchFamily="18" charset="0"/>
        </a:defRPr>
      </a:lvl6pPr>
      <a:lvl7pPr marL="914400" algn="ctr" rtl="0" fontAlgn="base">
        <a:spcBef>
          <a:spcPct val="0"/>
        </a:spcBef>
        <a:spcAft>
          <a:spcPct val="0"/>
        </a:spcAft>
        <a:defRPr sz="3200" b="1">
          <a:solidFill>
            <a:srgbClr val="000099"/>
          </a:solidFill>
          <a:latin typeface="Times New Roman" pitchFamily="18" charset="0"/>
        </a:defRPr>
      </a:lvl7pPr>
      <a:lvl8pPr marL="1371600" algn="ctr" rtl="0" fontAlgn="base">
        <a:spcBef>
          <a:spcPct val="0"/>
        </a:spcBef>
        <a:spcAft>
          <a:spcPct val="0"/>
        </a:spcAft>
        <a:defRPr sz="3200" b="1">
          <a:solidFill>
            <a:srgbClr val="000099"/>
          </a:solidFill>
          <a:latin typeface="Times New Roman" pitchFamily="18" charset="0"/>
        </a:defRPr>
      </a:lvl8pPr>
      <a:lvl9pPr marL="1828800" algn="ctr" rtl="0" fontAlgn="base">
        <a:spcBef>
          <a:spcPct val="0"/>
        </a:spcBef>
        <a:spcAft>
          <a:spcPct val="0"/>
        </a:spcAft>
        <a:defRPr sz="3200" b="1">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lr>
          <a:srgbClr val="000099"/>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000099"/>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lr>
          <a:srgbClr val="000099"/>
        </a:buClr>
        <a:buChar char="•"/>
        <a:defRPr sz="2000">
          <a:solidFill>
            <a:schemeClr val="tx1"/>
          </a:solidFill>
          <a:latin typeface="+mn-lt"/>
        </a:defRPr>
      </a:lvl3pPr>
      <a:lvl4pPr marL="1600200" indent="-228600" algn="l" rtl="0" eaLnBrk="0" fontAlgn="base" hangingPunct="0">
        <a:spcBef>
          <a:spcPct val="20000"/>
        </a:spcBef>
        <a:spcAft>
          <a:spcPct val="0"/>
        </a:spcAft>
        <a:buClr>
          <a:srgbClr val="000099"/>
        </a:buClr>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a:spLocks/>
          </p:cNvSpPr>
          <p:nvPr/>
        </p:nvSpPr>
        <p:spPr>
          <a:xfrm>
            <a:off x="0" y="5913118"/>
            <a:ext cx="9144000" cy="102108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3" name="Date Placeholder 3"/>
          <p:cNvSpPr>
            <a:spLocks noGrp="1"/>
          </p:cNvSpPr>
          <p:nvPr>
            <p:ph type="dt" sz="half" idx="2"/>
          </p:nvPr>
        </p:nvSpPr>
        <p:spPr>
          <a:xfrm>
            <a:off x="4572000" y="6377354"/>
            <a:ext cx="1219200" cy="365125"/>
          </a:xfrm>
          <a:prstGeom prst="rect">
            <a:avLst/>
          </a:prstGeom>
        </p:spPr>
        <p:txBody>
          <a:bodyPr/>
          <a:lstStyle>
            <a:lvl1pPr>
              <a:defRPr sz="1400">
                <a:solidFill>
                  <a:schemeClr val="bg2"/>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5" name="Footer Placeholder 4"/>
          <p:cNvSpPr>
            <a:spLocks noGrp="1"/>
          </p:cNvSpPr>
          <p:nvPr>
            <p:ph type="ftr" sz="quarter" idx="3"/>
          </p:nvPr>
        </p:nvSpPr>
        <p:spPr>
          <a:xfrm>
            <a:off x="5638800" y="6377354"/>
            <a:ext cx="2895600" cy="365125"/>
          </a:xfrm>
          <a:prstGeom prst="rect">
            <a:avLst/>
          </a:prstGeom>
        </p:spPr>
        <p:txBody>
          <a:bodyPr/>
          <a:lstStyle>
            <a:lvl1pPr algn="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6" name="Slide Number Placeholder 5"/>
          <p:cNvSpPr>
            <a:spLocks noGrp="1"/>
          </p:cNvSpPr>
          <p:nvPr>
            <p:ph type="sldNum" sz="quarter" idx="4"/>
          </p:nvPr>
        </p:nvSpPr>
        <p:spPr>
          <a:xfrm>
            <a:off x="8305800" y="6362700"/>
            <a:ext cx="609600" cy="365125"/>
          </a:xfrm>
          <a:prstGeom prst="rect">
            <a:avLst/>
          </a:prstGeom>
        </p:spPr>
        <p:txBody>
          <a:bodyPr/>
          <a:lstStyle>
            <a:lvl1pPr>
              <a:defRPr sz="1400">
                <a:solidFill>
                  <a:schemeClr val="bg2"/>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600"/>
                </a:solidFill>
                <a:effectLst/>
                <a:uLnTx/>
                <a:uFillTx/>
                <a:latin typeface="Arial"/>
                <a:ea typeface="+mn-ea"/>
                <a:cs typeface="+mn-cs"/>
              </a:rPr>
              <a:t>| </a:t>
            </a:r>
            <a:fld id="{BA13C625-9B67-4A70-A9C3-06D9E61B09A6}" type="slidenum">
              <a:rPr kumimoji="0" lang="en-US" sz="1400" b="0" i="0" u="none" strike="noStrike" kern="1200" cap="none" spc="0" normalizeH="0" baseline="0" noProof="0" smtClean="0">
                <a:ln>
                  <a:noFill/>
                </a:ln>
                <a:solidFill>
                  <a:srgbClr val="FFC6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C600"/>
              </a:solidFill>
              <a:effectLst/>
              <a:uLnTx/>
              <a:uFillTx/>
              <a:latin typeface="Arial"/>
              <a:ea typeface="+mn-ea"/>
              <a:cs typeface="+mn-cs"/>
            </a:endParaRPr>
          </a:p>
        </p:txBody>
      </p:sp>
      <p:sp>
        <p:nvSpPr>
          <p:cNvPr id="14" name="Rectangle 13"/>
          <p:cNvSpPr/>
          <p:nvPr/>
        </p:nvSpPr>
        <p:spPr>
          <a:xfrm>
            <a:off x="0" y="5867400"/>
            <a:ext cx="914400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imes new roman"/>
              <a:ea typeface="+mn-ea"/>
              <a:cs typeface="+mn-cs"/>
            </a:endParaRPr>
          </a:p>
        </p:txBody>
      </p:sp>
      <p:pic>
        <p:nvPicPr>
          <p:cNvPr id="2" name="Picture 1" descr="College_ComputingInformatics-oneline.png"/>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28601" y="6172200"/>
            <a:ext cx="3794096" cy="586932"/>
          </a:xfrm>
          <a:prstGeom prst="rect">
            <a:avLst/>
          </a:prstGeom>
        </p:spPr>
      </p:pic>
    </p:spTree>
    <p:extLst>
      <p:ext uri="{BB962C8B-B14F-4D97-AF65-F5344CB8AC3E}">
        <p14:creationId xmlns:p14="http://schemas.microsoft.com/office/powerpoint/2010/main" val="304417290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FAICjPh9a78#action=share"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hyperlink" Target="https://www.kaggle.com/lakshmi25npathi/imdb-dataset-of-50k-movie-reviews" TargetMode="Externa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hyperlink" Target="https://towardsdatascience.com/light-on-math-machine-learning-intuitive-guide-to-latent-dirichlet-allocation-437c81220158" TargetMode="External"/><Relationship Id="rId7" Type="http://schemas.openxmlformats.org/officeDocument/2006/relationships/hyperlink" Target="https://blog.bigml.com/2016/11/25/who-wants-to-know-the-inner-workings-of-lda/" TargetMode="External"/><Relationship Id="rId2" Type="http://schemas.openxmlformats.org/officeDocument/2006/relationships/hyperlink" Target="https://youtu.be/XmF61NxrDJs" TargetMode="External"/><Relationship Id="rId1" Type="http://schemas.openxmlformats.org/officeDocument/2006/relationships/slideLayout" Target="../slideLayouts/slideLayout11.xml"/><Relationship Id="rId6" Type="http://schemas.openxmlformats.org/officeDocument/2006/relationships/hyperlink" Target="https://youtu.be/OjKJp5kvpNs?list=PL1bKyu9GtNYHcjGa6ulrvRVcm1lAB8he3" TargetMode="External"/><Relationship Id="rId5" Type="http://schemas.openxmlformats.org/officeDocument/2006/relationships/hyperlink" Target="https://blog.bigml.com/2016/11/16/introduction-to-topic-models/" TargetMode="External"/><Relationship Id="rId4" Type="http://schemas.openxmlformats.org/officeDocument/2006/relationships/hyperlink" Target="https://blog.bigml.com/2018/07/12/text-analysis-enhancements-22-languages-and-more-pre-processing-options/"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467" y="609600"/>
            <a:ext cx="9144000" cy="1535668"/>
          </a:xfrm>
        </p:spPr>
        <p:txBody>
          <a:bodyPr/>
          <a:lstStyle/>
          <a:p>
            <a:endParaRPr lang="en-US" sz="3200" dirty="0"/>
          </a:p>
          <a:p>
            <a:r>
              <a:rPr lang="en-US" sz="3200" dirty="0"/>
              <a:t>Text Data analysis with </a:t>
            </a:r>
            <a:r>
              <a:rPr lang="en-US" sz="3200" dirty="0" err="1"/>
              <a:t>BigML</a:t>
            </a:r>
            <a:endParaRPr lang="en-US" sz="3200" dirty="0"/>
          </a:p>
        </p:txBody>
      </p:sp>
      <p:sp>
        <p:nvSpPr>
          <p:cNvPr id="5" name="Text Placeholder 4"/>
          <p:cNvSpPr>
            <a:spLocks noGrp="1"/>
          </p:cNvSpPr>
          <p:nvPr>
            <p:ph type="body" sz="quarter" idx="10"/>
          </p:nvPr>
        </p:nvSpPr>
        <p:spPr>
          <a:xfrm>
            <a:off x="-50800" y="2209800"/>
            <a:ext cx="9144000" cy="533400"/>
          </a:xfrm>
        </p:spPr>
        <p:txBody>
          <a:bodyPr/>
          <a:lstStyle/>
          <a:p>
            <a:endParaRPr lang="en-US" dirty="0"/>
          </a:p>
          <a:p>
            <a:endParaRPr lang="en-US" dirty="0"/>
          </a:p>
          <a:p>
            <a:r>
              <a:rPr lang="en-US" dirty="0"/>
              <a:t>Aditya Nanjappa</a:t>
            </a:r>
          </a:p>
          <a:p>
            <a:r>
              <a:rPr lang="en-US" altLang="ko-KR" dirty="0"/>
              <a:t>College</a:t>
            </a:r>
            <a:r>
              <a:rPr lang="ko-KR" altLang="en-US" dirty="0"/>
              <a:t> </a:t>
            </a:r>
            <a:r>
              <a:rPr lang="en-US" altLang="ko-KR" dirty="0"/>
              <a:t>of Computing &amp; Informatics</a:t>
            </a:r>
          </a:p>
          <a:p>
            <a:r>
              <a:rPr lang="en-US" dirty="0"/>
              <a:t>Drexel University</a:t>
            </a:r>
          </a:p>
          <a:p>
            <a:r>
              <a:rPr lang="en-US" dirty="0"/>
              <a:t>Philadelphia, PA 19104</a:t>
            </a:r>
          </a:p>
        </p:txBody>
      </p:sp>
    </p:spTree>
    <p:extLst>
      <p:ext uri="{BB962C8B-B14F-4D97-AF65-F5344CB8AC3E}">
        <p14:creationId xmlns:p14="http://schemas.microsoft.com/office/powerpoint/2010/main" val="2533943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sz="3200" dirty="0" err="1">
                <a:ea typeface="宋体" panose="02010600030101010101" pitchFamily="2" charset="-122"/>
              </a:rPr>
              <a:t>BigML</a:t>
            </a:r>
            <a:endParaRPr lang="en-US" altLang="zh-CN" sz="3200" dirty="0">
              <a:ea typeface="宋体" panose="02010600030101010101" pitchFamily="2" charset="-122"/>
            </a:endParaRPr>
          </a:p>
        </p:txBody>
      </p:sp>
      <p:sp>
        <p:nvSpPr>
          <p:cNvPr id="212995" name="Rectangle 3"/>
          <p:cNvSpPr>
            <a:spLocks noGrp="1" noChangeArrowheads="1"/>
          </p:cNvSpPr>
          <p:nvPr>
            <p:ph idx="1"/>
          </p:nvPr>
        </p:nvSpPr>
        <p:spPr/>
        <p:txBody>
          <a:bodyPr/>
          <a:lstStyle/>
          <a:p>
            <a:r>
              <a:rPr lang="en-US" sz="2400" dirty="0"/>
              <a:t>With the motto of bringing Machine Learning to everyone, </a:t>
            </a:r>
            <a:r>
              <a:rPr lang="en-US" sz="2400" dirty="0" err="1"/>
              <a:t>BigML</a:t>
            </a:r>
            <a:r>
              <a:rPr lang="en-US" sz="2400" dirty="0"/>
              <a:t> was introduced in 2011.</a:t>
            </a:r>
          </a:p>
          <a:p>
            <a:r>
              <a:rPr lang="en-US" sz="2400" dirty="0" err="1"/>
              <a:t>BigML</a:t>
            </a:r>
            <a:r>
              <a:rPr lang="en-US" sz="2400" dirty="0"/>
              <a:t> is a consumable, programmable, and scalable Machine Learning platform that makes it easy to solve and automate Classification, Regression, Time Series Forecasting, Cluster Analysis, Anomaly Detection, Association Discovery, and Topic Modeling tasks.</a:t>
            </a:r>
          </a:p>
          <a:p>
            <a:r>
              <a:rPr lang="en-US" sz="2400" dirty="0"/>
              <a:t>This video demonstrates briefly on what </a:t>
            </a:r>
            <a:r>
              <a:rPr lang="en-US" sz="2400" dirty="0" err="1"/>
              <a:t>BigML</a:t>
            </a:r>
            <a:r>
              <a:rPr lang="en-US" sz="2400" dirty="0"/>
              <a:t> does.</a:t>
            </a:r>
          </a:p>
          <a:p>
            <a:pPr marL="0" indent="0">
              <a:buNone/>
            </a:pPr>
            <a:r>
              <a:rPr lang="en-US" sz="2400" dirty="0">
                <a:solidFill>
                  <a:schemeClr val="accent2"/>
                </a:solidFill>
                <a:hlinkClick r:id="rId3">
                  <a:extLst>
                    <a:ext uri="{A12FA001-AC4F-418D-AE19-62706E023703}">
                      <ahyp:hlinkClr xmlns:ahyp="http://schemas.microsoft.com/office/drawing/2018/hyperlinkcolor" val="tx"/>
                    </a:ext>
                  </a:extLst>
                </a:hlinkClick>
              </a:rPr>
              <a:t>https://www.youtube.com/watch?v=FAICjPh9a78#action=share</a:t>
            </a:r>
            <a:endParaRPr lang="en-US" sz="2400" dirty="0">
              <a:solidFill>
                <a:schemeClr val="accent2"/>
              </a:solidFill>
            </a:endParaRPr>
          </a:p>
        </p:txBody>
      </p:sp>
      <p:sp>
        <p:nvSpPr>
          <p:cNvPr id="10244" name="Slide Number Placeholder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222222"/>
                </a:solidFill>
                <a:latin typeface="Arial" panose="020B0604020202020204" pitchFamily="34" charset="0"/>
              </a:defRPr>
            </a:lvl1pPr>
            <a:lvl2pPr marL="742950" indent="-285750">
              <a:spcBef>
                <a:spcPct val="20000"/>
              </a:spcBef>
              <a:buChar char="–"/>
              <a:defRPr sz="2600">
                <a:solidFill>
                  <a:srgbClr val="222222"/>
                </a:solidFill>
                <a:latin typeface="Arial" panose="020B0604020202020204" pitchFamily="34" charset="0"/>
              </a:defRPr>
            </a:lvl2pPr>
            <a:lvl3pPr marL="1143000" indent="-228600">
              <a:spcBef>
                <a:spcPct val="20000"/>
              </a:spcBef>
              <a:buChar char="•"/>
              <a:defRPr sz="2400">
                <a:solidFill>
                  <a:srgbClr val="222222"/>
                </a:solidFill>
                <a:latin typeface="Arial" panose="020B0604020202020204" pitchFamily="34" charset="0"/>
              </a:defRPr>
            </a:lvl3pPr>
            <a:lvl4pPr marL="1600200" indent="-228600">
              <a:spcBef>
                <a:spcPct val="20000"/>
              </a:spcBef>
              <a:buChar char="–"/>
              <a:defRPr sz="24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zh-CN" sz="1400" dirty="0">
              <a:solidFill>
                <a:schemeClr val="tx1"/>
              </a:solidFill>
              <a:ea typeface="宋体" panose="02010600030101010101" pitchFamily="2" charset="-122"/>
            </a:endParaRPr>
          </a:p>
        </p:txBody>
      </p:sp>
      <p:sp>
        <p:nvSpPr>
          <p:cNvPr id="2" name="Footer Placeholder 1"/>
          <p:cNvSpPr>
            <a:spLocks noGrp="1"/>
          </p:cNvSpPr>
          <p:nvPr>
            <p:ph type="ftr" sz="quarter" idx="10"/>
          </p:nvPr>
        </p:nvSpPr>
        <p:spPr/>
        <p:txBody>
          <a:bodyPr/>
          <a:lstStyle/>
          <a:p>
            <a:pPr>
              <a:defRPr/>
            </a:pPr>
            <a:endParaRPr lang="en-US" dirty="0"/>
          </a:p>
        </p:txBody>
      </p:sp>
      <p:sp>
        <p:nvSpPr>
          <p:cNvPr id="3" name="Rectangle 2"/>
          <p:cNvSpPr/>
          <p:nvPr/>
        </p:nvSpPr>
        <p:spPr>
          <a:xfrm>
            <a:off x="8636772" y="6311384"/>
            <a:ext cx="300082" cy="369332"/>
          </a:xfrm>
          <a:prstGeom prst="rect">
            <a:avLst/>
          </a:prstGeom>
        </p:spPr>
        <p:txBody>
          <a:bodyPr wrap="none">
            <a:spAutoFit/>
          </a:bodyPr>
          <a:lstStyle/>
          <a:p>
            <a:pPr>
              <a:spcBef>
                <a:spcPct val="0"/>
              </a:spcBef>
              <a:buFontTx/>
              <a:buNone/>
            </a:pPr>
            <a:fld id="{23A86663-C575-4101-AA11-303B6A82C1CD}" type="slidenum">
              <a:rPr lang="en-US" altLang="zh-CN">
                <a:ea typeface="宋体" panose="02010600030101010101" pitchFamily="2" charset="-122"/>
              </a:rPr>
              <a:pPr>
                <a:spcBef>
                  <a:spcPct val="0"/>
                </a:spcBef>
                <a:buFontTx/>
                <a:buNone/>
              </a:pPr>
              <a:t>2</a:t>
            </a:fld>
            <a:endParaRPr lang="en-US" altLang="zh-CN" dirty="0">
              <a:ea typeface="宋体" panose="02010600030101010101" pitchFamily="2" charset="-122"/>
            </a:endParaRPr>
          </a:p>
        </p:txBody>
      </p:sp>
    </p:spTree>
    <p:extLst>
      <p:ext uri="{BB962C8B-B14F-4D97-AF65-F5344CB8AC3E}">
        <p14:creationId xmlns:p14="http://schemas.microsoft.com/office/powerpoint/2010/main" val="105628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err="1"/>
              <a:t>BigML</a:t>
            </a:r>
            <a:r>
              <a:rPr lang="en-US" altLang="en-US" dirty="0"/>
              <a:t>: Uses</a:t>
            </a:r>
          </a:p>
        </p:txBody>
      </p:sp>
      <p:sp>
        <p:nvSpPr>
          <p:cNvPr id="12291" name="Content Placeholder 2"/>
          <p:cNvSpPr>
            <a:spLocks noGrp="1"/>
          </p:cNvSpPr>
          <p:nvPr>
            <p:ph idx="1"/>
          </p:nvPr>
        </p:nvSpPr>
        <p:spPr>
          <a:xfrm>
            <a:off x="533400" y="1219200"/>
            <a:ext cx="8077200" cy="4876800"/>
          </a:xfrm>
        </p:spPr>
        <p:txBody>
          <a:bodyPr/>
          <a:lstStyle/>
          <a:p>
            <a:r>
              <a:rPr lang="en-US" sz="2400" b="1" dirty="0" err="1"/>
              <a:t>BigML</a:t>
            </a:r>
            <a:r>
              <a:rPr lang="en-US" sz="2400" dirty="0"/>
              <a:t> is helping thousands of analysts, software developers, and scientists around the world to solve Machine Learning tasks "end-to-end", seamlessly transforming data into actionable models that are </a:t>
            </a:r>
            <a:r>
              <a:rPr lang="en-US" sz="2400" b="1" dirty="0"/>
              <a:t>used</a:t>
            </a:r>
            <a:r>
              <a:rPr lang="en-US" sz="2400" dirty="0"/>
              <a:t> as remote services or, locally, embedded into applications to make predictions.</a:t>
            </a:r>
          </a:p>
          <a:p>
            <a:r>
              <a:rPr lang="en-US" sz="2400" dirty="0"/>
              <a:t>It can be used for both </a:t>
            </a:r>
          </a:p>
          <a:p>
            <a:pPr lvl="1"/>
            <a:r>
              <a:rPr lang="en-US" b="1" dirty="0"/>
              <a:t>Supervised Learning: </a:t>
            </a:r>
            <a:r>
              <a:rPr lang="en-US" dirty="0"/>
              <a:t>classification and regression (trees, ensembles, linear regressions, logistic regressions, </a:t>
            </a:r>
            <a:r>
              <a:rPr lang="en-US" dirty="0" err="1"/>
              <a:t>deepnets</a:t>
            </a:r>
            <a:r>
              <a:rPr lang="en-US" dirty="0"/>
              <a:t>), and time series forecasting.</a:t>
            </a:r>
          </a:p>
          <a:p>
            <a:pPr lvl="1"/>
            <a:r>
              <a:rPr lang="en-US" b="1" dirty="0"/>
              <a:t>Unsupervised Learning: </a:t>
            </a:r>
            <a:r>
              <a:rPr lang="en-US" dirty="0"/>
              <a:t>cluster analysis, anomaly detection, topic modeling, association discovery, and Principal Component Analysis (PCA).</a:t>
            </a:r>
            <a:endParaRPr lang="en-US" sz="2000" dirty="0"/>
          </a:p>
        </p:txBody>
      </p:sp>
      <p:sp>
        <p:nvSpPr>
          <p:cNvPr id="12292" name="Slide Number Placeholder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222222"/>
                </a:solidFill>
                <a:latin typeface="Arial" panose="020B0604020202020204" pitchFamily="34" charset="0"/>
              </a:defRPr>
            </a:lvl1pPr>
            <a:lvl2pPr marL="742950" indent="-285750">
              <a:spcBef>
                <a:spcPct val="20000"/>
              </a:spcBef>
              <a:buChar char="–"/>
              <a:defRPr sz="2600">
                <a:solidFill>
                  <a:srgbClr val="222222"/>
                </a:solidFill>
                <a:latin typeface="Arial" panose="020B0604020202020204" pitchFamily="34" charset="0"/>
              </a:defRPr>
            </a:lvl2pPr>
            <a:lvl3pPr marL="1143000" indent="-228600">
              <a:spcBef>
                <a:spcPct val="20000"/>
              </a:spcBef>
              <a:buChar char="•"/>
              <a:defRPr sz="2400">
                <a:solidFill>
                  <a:srgbClr val="222222"/>
                </a:solidFill>
                <a:latin typeface="Arial" panose="020B0604020202020204" pitchFamily="34" charset="0"/>
              </a:defRPr>
            </a:lvl3pPr>
            <a:lvl4pPr marL="1600200" indent="-228600">
              <a:spcBef>
                <a:spcPct val="20000"/>
              </a:spcBef>
              <a:buChar char="–"/>
              <a:defRPr sz="24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zh-CN" sz="1400" dirty="0">
              <a:solidFill>
                <a:schemeClr val="tx1"/>
              </a:solidFill>
              <a:ea typeface="宋体" panose="02010600030101010101" pitchFamily="2" charset="-122"/>
            </a:endParaRPr>
          </a:p>
        </p:txBody>
      </p:sp>
      <p:sp>
        <p:nvSpPr>
          <p:cNvPr id="2" name="Footer Placeholder 1"/>
          <p:cNvSpPr>
            <a:spLocks noGrp="1"/>
          </p:cNvSpPr>
          <p:nvPr>
            <p:ph type="ftr" sz="quarter" idx="10"/>
          </p:nvPr>
        </p:nvSpPr>
        <p:spPr/>
        <p:txBody>
          <a:bodyPr/>
          <a:lstStyle/>
          <a:p>
            <a:pPr>
              <a:defRPr/>
            </a:pPr>
            <a:endParaRPr lang="en-US" dirty="0"/>
          </a:p>
        </p:txBody>
      </p:sp>
      <p:sp>
        <p:nvSpPr>
          <p:cNvPr id="3" name="Rectangle 2"/>
          <p:cNvSpPr/>
          <p:nvPr/>
        </p:nvSpPr>
        <p:spPr>
          <a:xfrm>
            <a:off x="8781234" y="6389172"/>
            <a:ext cx="300082" cy="369332"/>
          </a:xfrm>
          <a:prstGeom prst="rect">
            <a:avLst/>
          </a:prstGeom>
        </p:spPr>
        <p:txBody>
          <a:bodyPr wrap="none">
            <a:spAutoFit/>
          </a:bodyPr>
          <a:lstStyle/>
          <a:p>
            <a:pPr>
              <a:spcBef>
                <a:spcPct val="0"/>
              </a:spcBef>
              <a:buFontTx/>
              <a:buNone/>
            </a:pPr>
            <a:fld id="{54DD6B55-4F9F-4040-AAA2-9DB32B977E72}" type="slidenum">
              <a:rPr lang="en-US" altLang="zh-CN">
                <a:ea typeface="宋体" panose="02010600030101010101" pitchFamily="2" charset="-122"/>
              </a:rPr>
              <a:pPr>
                <a:spcBef>
                  <a:spcPct val="0"/>
                </a:spcBef>
                <a:buFontTx/>
                <a:buNone/>
              </a:pPr>
              <a:t>3</a:t>
            </a:fld>
            <a:endParaRPr lang="en-US" altLang="zh-CN" dirty="0">
              <a:ea typeface="宋体" panose="02010600030101010101" pitchFamily="2" charset="-122"/>
            </a:endParaRPr>
          </a:p>
        </p:txBody>
      </p:sp>
    </p:spTree>
    <p:extLst>
      <p:ext uri="{BB962C8B-B14F-4D97-AF65-F5344CB8AC3E}">
        <p14:creationId xmlns:p14="http://schemas.microsoft.com/office/powerpoint/2010/main" val="348949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5A6C-0826-4250-A27D-31D1F4E15228}"/>
              </a:ext>
            </a:extLst>
          </p:cNvPr>
          <p:cNvSpPr>
            <a:spLocks noGrp="1"/>
          </p:cNvSpPr>
          <p:nvPr>
            <p:ph type="title"/>
          </p:nvPr>
        </p:nvSpPr>
        <p:spPr/>
        <p:txBody>
          <a:bodyPr/>
          <a:lstStyle/>
          <a:p>
            <a:r>
              <a:rPr lang="en-US" dirty="0"/>
              <a:t>Text Data Analysis using </a:t>
            </a:r>
            <a:r>
              <a:rPr lang="en-US" dirty="0" err="1"/>
              <a:t>BigML</a:t>
            </a:r>
            <a:endParaRPr lang="en-US" dirty="0"/>
          </a:p>
        </p:txBody>
      </p:sp>
      <p:sp>
        <p:nvSpPr>
          <p:cNvPr id="3" name="Content Placeholder 2">
            <a:extLst>
              <a:ext uri="{FF2B5EF4-FFF2-40B4-BE49-F238E27FC236}">
                <a16:creationId xmlns:a16="http://schemas.microsoft.com/office/drawing/2014/main" id="{FEDC2AD2-B8CA-42B8-89A3-3B940E7AAB07}"/>
              </a:ext>
            </a:extLst>
          </p:cNvPr>
          <p:cNvSpPr>
            <a:spLocks noGrp="1"/>
          </p:cNvSpPr>
          <p:nvPr>
            <p:ph idx="1"/>
          </p:nvPr>
        </p:nvSpPr>
        <p:spPr/>
        <p:txBody>
          <a:bodyPr/>
          <a:lstStyle/>
          <a:p>
            <a:r>
              <a:rPr lang="en-US" sz="2400" dirty="0"/>
              <a:t>Text data analysis allows us to understand unstructured text data analysis and makes it easier on what the text convey, thus help business deal with information overload.</a:t>
            </a:r>
          </a:p>
          <a:p>
            <a:r>
              <a:rPr lang="en-US" sz="2400" dirty="0"/>
              <a:t>This helps us to extract information like key words, names, sentiment and label them accordingly to our needs.</a:t>
            </a:r>
          </a:p>
          <a:p>
            <a:r>
              <a:rPr lang="en-US" sz="2400" dirty="0"/>
              <a:t>Text analysis in </a:t>
            </a:r>
            <a:r>
              <a:rPr lang="en-US" sz="2400" dirty="0" err="1"/>
              <a:t>BigML</a:t>
            </a:r>
            <a:r>
              <a:rPr lang="en-US" sz="2400" dirty="0"/>
              <a:t> is done through Topic Models.</a:t>
            </a:r>
          </a:p>
          <a:p>
            <a:pPr marL="0" indent="0">
              <a:buNone/>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044D1539-BA54-46A2-8020-7D68E0541122}"/>
              </a:ext>
            </a:extLst>
          </p:cNvPr>
          <p:cNvSpPr>
            <a:spLocks noGrp="1"/>
          </p:cNvSpPr>
          <p:nvPr>
            <p:ph type="ftr" sz="quarter" idx="10"/>
          </p:nvPr>
        </p:nvSpPr>
        <p:spPr/>
        <p:txBody>
          <a:bodyPr/>
          <a:lstStyle/>
          <a:p>
            <a:pPr>
              <a:defRPr/>
            </a:pPr>
            <a:endParaRPr lang="en-US" dirty="0">
              <a:solidFill>
                <a:srgbClr val="000000"/>
              </a:solidFill>
            </a:endParaRPr>
          </a:p>
        </p:txBody>
      </p:sp>
      <p:pic>
        <p:nvPicPr>
          <p:cNvPr id="5" name="Picture 4">
            <a:extLst>
              <a:ext uri="{FF2B5EF4-FFF2-40B4-BE49-F238E27FC236}">
                <a16:creationId xmlns:a16="http://schemas.microsoft.com/office/drawing/2014/main" id="{50D282E6-B396-42A8-909F-DA3B0C1854AC}"/>
              </a:ext>
            </a:extLst>
          </p:cNvPr>
          <p:cNvPicPr>
            <a:picLocks noChangeAspect="1"/>
          </p:cNvPicPr>
          <p:nvPr/>
        </p:nvPicPr>
        <p:blipFill>
          <a:blip r:embed="rId2"/>
          <a:stretch>
            <a:fillRect/>
          </a:stretch>
        </p:blipFill>
        <p:spPr>
          <a:xfrm>
            <a:off x="1638300" y="3769178"/>
            <a:ext cx="5867400" cy="2266950"/>
          </a:xfrm>
          <a:prstGeom prst="rect">
            <a:avLst/>
          </a:prstGeom>
        </p:spPr>
      </p:pic>
    </p:spTree>
    <p:extLst>
      <p:ext uri="{BB962C8B-B14F-4D97-AF65-F5344CB8AC3E}">
        <p14:creationId xmlns:p14="http://schemas.microsoft.com/office/powerpoint/2010/main" val="1864335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A4D5F-1F3B-4FF5-800A-0347A46F2558}"/>
              </a:ext>
            </a:extLst>
          </p:cNvPr>
          <p:cNvSpPr>
            <a:spLocks noGrp="1"/>
          </p:cNvSpPr>
          <p:nvPr>
            <p:ph type="title"/>
          </p:nvPr>
        </p:nvSpPr>
        <p:spPr/>
        <p:txBody>
          <a:bodyPr/>
          <a:lstStyle/>
          <a:p>
            <a:r>
              <a:rPr lang="en-US" dirty="0"/>
              <a:t>Topic Models</a:t>
            </a:r>
          </a:p>
        </p:txBody>
      </p:sp>
      <p:sp>
        <p:nvSpPr>
          <p:cNvPr id="3" name="Content Placeholder 2">
            <a:extLst>
              <a:ext uri="{FF2B5EF4-FFF2-40B4-BE49-F238E27FC236}">
                <a16:creationId xmlns:a16="http://schemas.microsoft.com/office/drawing/2014/main" id="{D745737E-D0B0-424E-8EA0-E8592A129838}"/>
              </a:ext>
            </a:extLst>
          </p:cNvPr>
          <p:cNvSpPr>
            <a:spLocks noGrp="1"/>
          </p:cNvSpPr>
          <p:nvPr>
            <p:ph idx="1"/>
          </p:nvPr>
        </p:nvSpPr>
        <p:spPr/>
        <p:txBody>
          <a:bodyPr/>
          <a:lstStyle/>
          <a:p>
            <a:r>
              <a:rPr lang="en-US" sz="2400" dirty="0"/>
              <a:t>In machine learning and natural language processing, a </a:t>
            </a:r>
            <a:r>
              <a:rPr lang="en-US" sz="2400" b="1" dirty="0"/>
              <a:t>topic model</a:t>
            </a:r>
            <a:r>
              <a:rPr lang="en-US" sz="2400" dirty="0"/>
              <a:t> is a type of statistical model for discovering the abstract "topics" that occur in a collection of documents. </a:t>
            </a:r>
          </a:p>
          <a:p>
            <a:r>
              <a:rPr lang="en-US" sz="2400" dirty="0"/>
              <a:t>Basic assumptions of topic modeling is that each ‘Document’ is a mixture of ‘Topics’ and each ‘Topic’ consists of a collection of ‘Word’. (This is the idea behind LDA)</a:t>
            </a:r>
          </a:p>
          <a:p>
            <a:r>
              <a:rPr lang="en-US" sz="2400" dirty="0"/>
              <a:t>Major Topic Models are:</a:t>
            </a:r>
          </a:p>
          <a:p>
            <a:pPr marL="971550" lvl="1" indent="-514350">
              <a:buFont typeface="+mj-lt"/>
              <a:buAutoNum type="arabicPeriod"/>
            </a:pPr>
            <a:r>
              <a:rPr lang="en-US" sz="2200" dirty="0"/>
              <a:t>Latent Semantic Analysis (LSA)</a:t>
            </a:r>
          </a:p>
          <a:p>
            <a:pPr marL="971550" lvl="1" indent="-514350">
              <a:buFont typeface="+mj-lt"/>
              <a:buAutoNum type="arabicPeriod"/>
            </a:pPr>
            <a:r>
              <a:rPr lang="en-US" sz="2200" dirty="0"/>
              <a:t>Probabilistic Latent Semantic Analysis (</a:t>
            </a:r>
            <a:r>
              <a:rPr lang="en-US" sz="2200" dirty="0" err="1"/>
              <a:t>pLSA</a:t>
            </a:r>
            <a:r>
              <a:rPr lang="en-US" sz="2200" dirty="0"/>
              <a:t>)</a:t>
            </a:r>
          </a:p>
          <a:p>
            <a:pPr marL="971550" lvl="1" indent="-514350">
              <a:buFont typeface="+mj-lt"/>
              <a:buAutoNum type="arabicPeriod"/>
            </a:pPr>
            <a:r>
              <a:rPr lang="en-US" sz="2200" dirty="0"/>
              <a:t>Latent Dirichlet Allocation (LDA)</a:t>
            </a:r>
          </a:p>
          <a:p>
            <a:pPr marL="971550" lvl="1" indent="-514350">
              <a:buFont typeface="+mj-lt"/>
              <a:buAutoNum type="arabicPeriod"/>
            </a:pPr>
            <a:endParaRPr lang="en-US" dirty="0"/>
          </a:p>
          <a:p>
            <a:pPr marL="457200" lvl="1" indent="0">
              <a:buNone/>
            </a:pPr>
            <a:endParaRPr lang="en-US" dirty="0"/>
          </a:p>
          <a:p>
            <a:endParaRPr lang="en-US" dirty="0"/>
          </a:p>
        </p:txBody>
      </p:sp>
      <p:sp>
        <p:nvSpPr>
          <p:cNvPr id="4" name="Footer Placeholder 3">
            <a:extLst>
              <a:ext uri="{FF2B5EF4-FFF2-40B4-BE49-F238E27FC236}">
                <a16:creationId xmlns:a16="http://schemas.microsoft.com/office/drawing/2014/main" id="{FCAD6E56-1B15-40B3-B8F2-465B87BAC85F}"/>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1709093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E4896-CB26-4ADC-83E4-581B9B5ED0FF}"/>
              </a:ext>
            </a:extLst>
          </p:cNvPr>
          <p:cNvSpPr>
            <a:spLocks noGrp="1"/>
          </p:cNvSpPr>
          <p:nvPr>
            <p:ph type="title"/>
          </p:nvPr>
        </p:nvSpPr>
        <p:spPr/>
        <p:txBody>
          <a:bodyPr/>
          <a:lstStyle/>
          <a:p>
            <a:r>
              <a:rPr lang="en-US" dirty="0"/>
              <a:t>Latent Dirichlet Allocation (LDA)</a:t>
            </a:r>
          </a:p>
        </p:txBody>
      </p:sp>
      <p:sp>
        <p:nvSpPr>
          <p:cNvPr id="3" name="Content Placeholder 2">
            <a:extLst>
              <a:ext uri="{FF2B5EF4-FFF2-40B4-BE49-F238E27FC236}">
                <a16:creationId xmlns:a16="http://schemas.microsoft.com/office/drawing/2014/main" id="{77707405-BA5E-44F6-8EC7-ACF14508D46F}"/>
              </a:ext>
            </a:extLst>
          </p:cNvPr>
          <p:cNvSpPr>
            <a:spLocks noGrp="1"/>
          </p:cNvSpPr>
          <p:nvPr>
            <p:ph idx="1"/>
          </p:nvPr>
        </p:nvSpPr>
        <p:spPr/>
        <p:txBody>
          <a:bodyPr/>
          <a:lstStyle/>
          <a:p>
            <a:r>
              <a:rPr lang="en-US" sz="2400" dirty="0" err="1"/>
              <a:t>BigML</a:t>
            </a:r>
            <a:r>
              <a:rPr lang="en-US" sz="2400" dirty="0"/>
              <a:t> uses its own implementation of LDA for Text Data analysis.</a:t>
            </a:r>
          </a:p>
          <a:p>
            <a:r>
              <a:rPr lang="en-US" sz="2400" dirty="0"/>
              <a:t>It tries to find significant thematically related ‘Topics’ from the supplied unstructured data. </a:t>
            </a:r>
          </a:p>
          <a:p>
            <a:r>
              <a:rPr lang="en-US" sz="2400" dirty="0"/>
              <a:t>The topics that we get can be used for modelling tasks.</a:t>
            </a:r>
          </a:p>
          <a:p>
            <a:r>
              <a:rPr lang="en-US" sz="2400" dirty="0"/>
              <a:t>The idea behind LDA is that ‘Each document can be described by a distribution of topics and each topic can be described by a distribution of words’</a:t>
            </a:r>
          </a:p>
          <a:p>
            <a:pPr marL="0" indent="0">
              <a:buNone/>
            </a:pPr>
            <a:endParaRPr lang="en-US" sz="2400" dirty="0"/>
          </a:p>
          <a:p>
            <a:pPr marL="0" indent="0">
              <a:buNone/>
            </a:pPr>
            <a:r>
              <a:rPr lang="en-US" sz="2400" dirty="0"/>
              <a:t>Latent – Hidden</a:t>
            </a:r>
          </a:p>
          <a:p>
            <a:pPr marL="0" indent="0">
              <a:buNone/>
            </a:pPr>
            <a:r>
              <a:rPr lang="en-US" sz="2400" dirty="0"/>
              <a:t>Dirichlet – A type of probability distribution</a:t>
            </a:r>
          </a:p>
          <a:p>
            <a:endParaRPr lang="en-US" sz="2400" dirty="0"/>
          </a:p>
        </p:txBody>
      </p:sp>
      <p:sp>
        <p:nvSpPr>
          <p:cNvPr id="4" name="Footer Placeholder 3">
            <a:extLst>
              <a:ext uri="{FF2B5EF4-FFF2-40B4-BE49-F238E27FC236}">
                <a16:creationId xmlns:a16="http://schemas.microsoft.com/office/drawing/2014/main" id="{A2A134AD-2DAE-4A36-8C5C-55A529BCC653}"/>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214781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8E07-0383-412F-9891-83B7466CCD9C}"/>
              </a:ext>
            </a:extLst>
          </p:cNvPr>
          <p:cNvSpPr>
            <a:spLocks noGrp="1"/>
          </p:cNvSpPr>
          <p:nvPr>
            <p:ph type="title"/>
          </p:nvPr>
        </p:nvSpPr>
        <p:spPr>
          <a:xfrm>
            <a:off x="1143000" y="533400"/>
            <a:ext cx="6858000" cy="914400"/>
          </a:xfrm>
        </p:spPr>
        <p:txBody>
          <a:bodyPr wrap="square" anchor="ctr">
            <a:normAutofit/>
          </a:bodyPr>
          <a:lstStyle/>
          <a:p>
            <a:r>
              <a:rPr lang="en-US" dirty="0"/>
              <a:t>Latent Dirichlet Allocation (LDA)</a:t>
            </a:r>
          </a:p>
        </p:txBody>
      </p:sp>
      <p:pic>
        <p:nvPicPr>
          <p:cNvPr id="6" name="Picture 5">
            <a:extLst>
              <a:ext uri="{FF2B5EF4-FFF2-40B4-BE49-F238E27FC236}">
                <a16:creationId xmlns:a16="http://schemas.microsoft.com/office/drawing/2014/main" id="{01A662F0-CCED-42CD-B344-43D823FB3E89}"/>
              </a:ext>
            </a:extLst>
          </p:cNvPr>
          <p:cNvPicPr>
            <a:picLocks noChangeAspect="1"/>
          </p:cNvPicPr>
          <p:nvPr/>
        </p:nvPicPr>
        <p:blipFill>
          <a:blip r:embed="rId2"/>
          <a:stretch>
            <a:fillRect/>
          </a:stretch>
        </p:blipFill>
        <p:spPr>
          <a:xfrm>
            <a:off x="5214186" y="2792877"/>
            <a:ext cx="3810000" cy="2038350"/>
          </a:xfrm>
          <a:prstGeom prst="rect">
            <a:avLst/>
          </a:prstGeom>
          <a:noFill/>
        </p:spPr>
      </p:pic>
      <p:pic>
        <p:nvPicPr>
          <p:cNvPr id="5" name="Content Placeholder 3">
            <a:extLst>
              <a:ext uri="{FF2B5EF4-FFF2-40B4-BE49-F238E27FC236}">
                <a16:creationId xmlns:a16="http://schemas.microsoft.com/office/drawing/2014/main" id="{F9E2168B-81C4-4DC6-8EDD-302316DE7BC3}"/>
              </a:ext>
            </a:extLst>
          </p:cNvPr>
          <p:cNvPicPr>
            <a:picLocks noGrp="1" noChangeAspect="1"/>
          </p:cNvPicPr>
          <p:nvPr>
            <p:ph sz="half" idx="2"/>
          </p:nvPr>
        </p:nvPicPr>
        <p:blipFill>
          <a:blip r:embed="rId3"/>
          <a:stretch>
            <a:fillRect/>
          </a:stretch>
        </p:blipFill>
        <p:spPr>
          <a:xfrm>
            <a:off x="381000" y="2746250"/>
            <a:ext cx="4684849" cy="2131605"/>
          </a:xfrm>
          <a:prstGeom prst="rect">
            <a:avLst/>
          </a:prstGeom>
          <a:noFill/>
        </p:spPr>
      </p:pic>
      <p:sp>
        <p:nvSpPr>
          <p:cNvPr id="4" name="Footer Placeholder 3">
            <a:extLst>
              <a:ext uri="{FF2B5EF4-FFF2-40B4-BE49-F238E27FC236}">
                <a16:creationId xmlns:a16="http://schemas.microsoft.com/office/drawing/2014/main" id="{9111775B-41BC-4479-A672-8041548B82B2}"/>
              </a:ext>
            </a:extLst>
          </p:cNvPr>
          <p:cNvSpPr>
            <a:spLocks noGrp="1"/>
          </p:cNvSpPr>
          <p:nvPr>
            <p:ph type="ftr" sz="quarter" idx="10"/>
          </p:nvPr>
        </p:nvSpPr>
        <p:spPr>
          <a:xfrm>
            <a:off x="3124200" y="6477000"/>
            <a:ext cx="2895600" cy="457200"/>
          </a:xfrm>
        </p:spPr>
        <p:txBody>
          <a:bodyPr wrap="square" anchor="t">
            <a:normAutofit/>
          </a:bodyPr>
          <a:lstStyle/>
          <a:p>
            <a:pPr>
              <a:spcAft>
                <a:spcPts val="600"/>
              </a:spcAft>
              <a:defRPr/>
            </a:pPr>
            <a:r>
              <a:rPr lang="en-US" dirty="0">
                <a:solidFill>
                  <a:srgbClr val="000000"/>
                </a:solidFill>
              </a:rPr>
              <a:t> </a:t>
            </a:r>
          </a:p>
        </p:txBody>
      </p:sp>
      <p:sp>
        <p:nvSpPr>
          <p:cNvPr id="11" name="Slide Number Placeholder 5">
            <a:extLst>
              <a:ext uri="{FF2B5EF4-FFF2-40B4-BE49-F238E27FC236}">
                <a16:creationId xmlns:a16="http://schemas.microsoft.com/office/drawing/2014/main" id="{46B624EE-20C3-4BBB-8AF3-59FD849DBEFF}"/>
              </a:ext>
            </a:extLst>
          </p:cNvPr>
          <p:cNvSpPr>
            <a:spLocks noGrp="1"/>
          </p:cNvSpPr>
          <p:nvPr>
            <p:ph type="sldNum" sz="quarter" idx="11"/>
          </p:nvPr>
        </p:nvSpPr>
        <p:spPr>
          <a:xfrm>
            <a:off x="7239000" y="6400799"/>
            <a:ext cx="1905000" cy="457200"/>
          </a:xfrm>
        </p:spPr>
        <p:txBody>
          <a:bodyPr/>
          <a:lstStyle/>
          <a:p>
            <a:pPr>
              <a:spcAft>
                <a:spcPts val="600"/>
              </a:spcAft>
              <a:defRPr/>
            </a:pPr>
            <a:fld id="{69C53DFD-5AB4-42B8-8E98-B1225630AE0E}" type="slidenum">
              <a:rPr lang="en-US" altLang="en-US">
                <a:solidFill>
                  <a:srgbClr val="000000"/>
                </a:solidFill>
              </a:rPr>
              <a:pPr>
                <a:spcAft>
                  <a:spcPts val="600"/>
                </a:spcAft>
                <a:defRPr/>
              </a:pPr>
              <a:t>7</a:t>
            </a:fld>
            <a:endParaRPr lang="en-US" altLang="en-US">
              <a:solidFill>
                <a:srgbClr val="000000"/>
              </a:solidFill>
            </a:endParaRPr>
          </a:p>
        </p:txBody>
      </p:sp>
      <p:sp>
        <p:nvSpPr>
          <p:cNvPr id="9" name="TextBox 8">
            <a:extLst>
              <a:ext uri="{FF2B5EF4-FFF2-40B4-BE49-F238E27FC236}">
                <a16:creationId xmlns:a16="http://schemas.microsoft.com/office/drawing/2014/main" id="{9E07F9D7-61B9-481C-AAC1-1AF9FA216547}"/>
              </a:ext>
            </a:extLst>
          </p:cNvPr>
          <p:cNvSpPr txBox="1"/>
          <p:nvPr/>
        </p:nvSpPr>
        <p:spPr>
          <a:xfrm>
            <a:off x="1290604" y="5163572"/>
            <a:ext cx="2600392" cy="369332"/>
          </a:xfrm>
          <a:prstGeom prst="rect">
            <a:avLst/>
          </a:prstGeom>
          <a:noFill/>
        </p:spPr>
        <p:txBody>
          <a:bodyPr wrap="none" rtlCol="0">
            <a:spAutoFit/>
          </a:bodyPr>
          <a:lstStyle/>
          <a:p>
            <a:r>
              <a:rPr lang="en-US" dirty="0"/>
              <a:t>Fig1 : Representing words</a:t>
            </a:r>
          </a:p>
        </p:txBody>
      </p:sp>
      <p:sp>
        <p:nvSpPr>
          <p:cNvPr id="10" name="TextBox 9">
            <a:extLst>
              <a:ext uri="{FF2B5EF4-FFF2-40B4-BE49-F238E27FC236}">
                <a16:creationId xmlns:a16="http://schemas.microsoft.com/office/drawing/2014/main" id="{EF003772-E99A-473B-B8A1-1DCA873C4DF0}"/>
              </a:ext>
            </a:extLst>
          </p:cNvPr>
          <p:cNvSpPr txBox="1"/>
          <p:nvPr/>
        </p:nvSpPr>
        <p:spPr>
          <a:xfrm>
            <a:off x="5486400" y="5169454"/>
            <a:ext cx="2671501" cy="369332"/>
          </a:xfrm>
          <a:prstGeom prst="rect">
            <a:avLst/>
          </a:prstGeom>
          <a:noFill/>
        </p:spPr>
        <p:txBody>
          <a:bodyPr wrap="none" rtlCol="0">
            <a:spAutoFit/>
          </a:bodyPr>
          <a:lstStyle/>
          <a:p>
            <a:r>
              <a:rPr lang="en-US" dirty="0"/>
              <a:t>Fig2 : Representing Topics</a:t>
            </a:r>
          </a:p>
        </p:txBody>
      </p:sp>
      <p:sp>
        <p:nvSpPr>
          <p:cNvPr id="12" name="TextBox 11">
            <a:extLst>
              <a:ext uri="{FF2B5EF4-FFF2-40B4-BE49-F238E27FC236}">
                <a16:creationId xmlns:a16="http://schemas.microsoft.com/office/drawing/2014/main" id="{F974FAFD-4284-4F47-9A38-585A595AD6DD}"/>
              </a:ext>
            </a:extLst>
          </p:cNvPr>
          <p:cNvSpPr txBox="1"/>
          <p:nvPr/>
        </p:nvSpPr>
        <p:spPr>
          <a:xfrm>
            <a:off x="3136900" y="5818621"/>
            <a:ext cx="8204200" cy="646331"/>
          </a:xfrm>
          <a:prstGeom prst="rect">
            <a:avLst/>
          </a:prstGeom>
          <a:noFill/>
        </p:spPr>
        <p:txBody>
          <a:bodyPr wrap="square" rtlCol="0">
            <a:spAutoFit/>
          </a:bodyPr>
          <a:lstStyle/>
          <a:p>
            <a:r>
              <a:rPr lang="en-US" dirty="0"/>
              <a:t>Source: </a:t>
            </a:r>
            <a:r>
              <a:rPr lang="en-US" u="sng" dirty="0"/>
              <a:t>Thushan </a:t>
            </a:r>
            <a:r>
              <a:rPr lang="en-US" u="sng" dirty="0" err="1"/>
              <a:t>Ganegedara</a:t>
            </a:r>
            <a:br>
              <a:rPr lang="en-US" dirty="0"/>
            </a:br>
            <a:endParaRPr lang="en-US" dirty="0"/>
          </a:p>
        </p:txBody>
      </p:sp>
    </p:spTree>
    <p:extLst>
      <p:ext uri="{BB962C8B-B14F-4D97-AF65-F5344CB8AC3E}">
        <p14:creationId xmlns:p14="http://schemas.microsoft.com/office/powerpoint/2010/main" val="480393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8107E-CAB8-4D6F-B751-399040C5F0EE}"/>
              </a:ext>
            </a:extLst>
          </p:cNvPr>
          <p:cNvSpPr>
            <a:spLocks noGrp="1"/>
          </p:cNvSpPr>
          <p:nvPr>
            <p:ph type="title"/>
          </p:nvPr>
        </p:nvSpPr>
        <p:spPr/>
        <p:txBody>
          <a:bodyPr/>
          <a:lstStyle/>
          <a:p>
            <a:r>
              <a:rPr lang="en-US" dirty="0"/>
              <a:t>Latent Dirichlet Allocation (LDA)</a:t>
            </a:r>
          </a:p>
        </p:txBody>
      </p:sp>
      <p:sp>
        <p:nvSpPr>
          <p:cNvPr id="3" name="Content Placeholder 2">
            <a:extLst>
              <a:ext uri="{FF2B5EF4-FFF2-40B4-BE49-F238E27FC236}">
                <a16:creationId xmlns:a16="http://schemas.microsoft.com/office/drawing/2014/main" id="{D8DEF445-C1F8-4DDF-A711-64188CC09201}"/>
              </a:ext>
            </a:extLst>
          </p:cNvPr>
          <p:cNvSpPr>
            <a:spLocks noGrp="1"/>
          </p:cNvSpPr>
          <p:nvPr>
            <p:ph idx="1"/>
          </p:nvPr>
        </p:nvSpPr>
        <p:spPr/>
        <p:txBody>
          <a:bodyPr/>
          <a:lstStyle/>
          <a:p>
            <a:r>
              <a:rPr lang="en-US" sz="2400" dirty="0"/>
              <a:t>In Fig 1, we are provided with multiple documents. Each document has the words specified in them.</a:t>
            </a:r>
          </a:p>
          <a:p>
            <a:r>
              <a:rPr lang="en-US" sz="2400" dirty="0"/>
              <a:t>Ins Fig 2, we add a latent (hidden) layer, that creates a topic. With this, we can say that each document is related to certain document. </a:t>
            </a:r>
          </a:p>
          <a:p>
            <a:r>
              <a:rPr lang="en-US" sz="2400" dirty="0"/>
              <a:t>With this, we can now classify the document with certain Topics and with this topic probability distribution, we can say what this document is really talking about.</a:t>
            </a:r>
          </a:p>
          <a:p>
            <a:r>
              <a:rPr lang="en-US" sz="2400" dirty="0"/>
              <a:t>Now we can say that these documents talk about ‘Animals’, ‘Sports’ and ‘Tech’</a:t>
            </a:r>
          </a:p>
          <a:p>
            <a:endParaRPr lang="en-US" sz="2400" dirty="0"/>
          </a:p>
        </p:txBody>
      </p:sp>
      <p:sp>
        <p:nvSpPr>
          <p:cNvPr id="4" name="Footer Placeholder 3">
            <a:extLst>
              <a:ext uri="{FF2B5EF4-FFF2-40B4-BE49-F238E27FC236}">
                <a16:creationId xmlns:a16="http://schemas.microsoft.com/office/drawing/2014/main" id="{EA1375F3-4618-40A7-80D2-DA8B91C17FB6}"/>
              </a:ext>
            </a:extLst>
          </p:cNvPr>
          <p:cNvSpPr>
            <a:spLocks noGrp="1"/>
          </p:cNvSpPr>
          <p:nvPr>
            <p:ph type="ftr" sz="quarter" idx="10"/>
          </p:nvPr>
        </p:nvSpPr>
        <p:spPr/>
        <p:txBody>
          <a:bodyPr/>
          <a:lstStyle/>
          <a:p>
            <a:pPr>
              <a:defRPr/>
            </a:pPr>
            <a:r>
              <a:rPr lang="en-US" dirty="0">
                <a:solidFill>
                  <a:srgbClr val="000000"/>
                </a:solidFill>
              </a:rPr>
              <a:t> </a:t>
            </a:r>
          </a:p>
        </p:txBody>
      </p:sp>
      <p:sp>
        <p:nvSpPr>
          <p:cNvPr id="5" name="TextBox 4">
            <a:extLst>
              <a:ext uri="{FF2B5EF4-FFF2-40B4-BE49-F238E27FC236}">
                <a16:creationId xmlns:a16="http://schemas.microsoft.com/office/drawing/2014/main" id="{53EEB323-1BEC-4462-92BD-2D6897D9B0C7}"/>
              </a:ext>
            </a:extLst>
          </p:cNvPr>
          <p:cNvSpPr txBox="1"/>
          <p:nvPr/>
        </p:nvSpPr>
        <p:spPr>
          <a:xfrm>
            <a:off x="1303867" y="5486400"/>
            <a:ext cx="7078133" cy="646331"/>
          </a:xfrm>
          <a:prstGeom prst="rect">
            <a:avLst/>
          </a:prstGeom>
          <a:noFill/>
        </p:spPr>
        <p:txBody>
          <a:bodyPr wrap="square" rtlCol="0">
            <a:spAutoFit/>
          </a:bodyPr>
          <a:lstStyle/>
          <a:p>
            <a:r>
              <a:rPr lang="en-US" dirty="0">
                <a:solidFill>
                  <a:schemeClr val="accent2"/>
                </a:solidFill>
              </a:rPr>
              <a:t>Note: ‘Animals’, ‘Sports’ and ‘Tech’ are imaginary. It is our responsibility to understand what the output ‘Topic’ is talking about.</a:t>
            </a:r>
          </a:p>
        </p:txBody>
      </p:sp>
    </p:spTree>
    <p:extLst>
      <p:ext uri="{BB962C8B-B14F-4D97-AF65-F5344CB8AC3E}">
        <p14:creationId xmlns:p14="http://schemas.microsoft.com/office/powerpoint/2010/main" val="158733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603E6-A2EE-49C8-940D-906823A63734}"/>
              </a:ext>
            </a:extLst>
          </p:cNvPr>
          <p:cNvSpPr>
            <a:spLocks noGrp="1"/>
          </p:cNvSpPr>
          <p:nvPr>
            <p:ph type="title"/>
          </p:nvPr>
        </p:nvSpPr>
        <p:spPr/>
        <p:txBody>
          <a:bodyPr/>
          <a:lstStyle/>
          <a:p>
            <a:r>
              <a:rPr lang="en-US" dirty="0"/>
              <a:t>Specification of LDA</a:t>
            </a:r>
          </a:p>
        </p:txBody>
      </p:sp>
      <p:sp>
        <p:nvSpPr>
          <p:cNvPr id="3" name="Content Placeholder 2">
            <a:extLst>
              <a:ext uri="{FF2B5EF4-FFF2-40B4-BE49-F238E27FC236}">
                <a16:creationId xmlns:a16="http://schemas.microsoft.com/office/drawing/2014/main" id="{B6CF147A-B927-417F-9290-BF571FCB9998}"/>
              </a:ext>
            </a:extLst>
          </p:cNvPr>
          <p:cNvSpPr>
            <a:spLocks noGrp="1"/>
          </p:cNvSpPr>
          <p:nvPr>
            <p:ph idx="1"/>
          </p:nvPr>
        </p:nvSpPr>
        <p:spPr/>
        <p:txBody>
          <a:bodyPr/>
          <a:lstStyle/>
          <a:p>
            <a:pPr marL="0" indent="0">
              <a:buNone/>
            </a:pPr>
            <a:r>
              <a:rPr lang="en-US" sz="2600" dirty="0">
                <a:solidFill>
                  <a:srgbClr val="FF0000"/>
                </a:solidFill>
              </a:rPr>
              <a:t>Input</a:t>
            </a:r>
            <a:r>
              <a:rPr lang="en-US" sz="2600" dirty="0"/>
              <a:t>: A document Term matrix (It is a matrix where the rows are different documents and columns are the words of the document), Number of Iterations, Number of Topics.</a:t>
            </a:r>
          </a:p>
          <a:p>
            <a:pPr marL="0" indent="0">
              <a:buNone/>
            </a:pPr>
            <a:endParaRPr lang="en-US" sz="2600" dirty="0"/>
          </a:p>
          <a:p>
            <a:pPr marL="0" indent="0">
              <a:buNone/>
            </a:pPr>
            <a:r>
              <a:rPr lang="en-US" sz="2600" dirty="0">
                <a:solidFill>
                  <a:srgbClr val="FF0000"/>
                </a:solidFill>
              </a:rPr>
              <a:t>Topic Model</a:t>
            </a:r>
            <a:r>
              <a:rPr lang="en-US" sz="2600" dirty="0"/>
              <a:t>: This is where the LDA works. To improve efficiency, we need to use </a:t>
            </a:r>
            <a:r>
              <a:rPr lang="en-US" sz="2600" dirty="0" err="1"/>
              <a:t>nltk</a:t>
            </a:r>
            <a:r>
              <a:rPr lang="en-US" sz="2600" dirty="0"/>
              <a:t> for some parts of speech tagging. This is done by </a:t>
            </a:r>
            <a:r>
              <a:rPr lang="en-US" sz="2600" dirty="0" err="1"/>
              <a:t>BigML</a:t>
            </a:r>
            <a:r>
              <a:rPr lang="en-US" sz="2600" dirty="0"/>
              <a:t> implementation.</a:t>
            </a:r>
          </a:p>
          <a:p>
            <a:pPr marL="0" indent="0">
              <a:buNone/>
            </a:pPr>
            <a:endParaRPr lang="en-US" sz="2600" dirty="0"/>
          </a:p>
          <a:p>
            <a:pPr marL="0" indent="0">
              <a:buNone/>
            </a:pPr>
            <a:r>
              <a:rPr lang="en-US" sz="2600" dirty="0">
                <a:solidFill>
                  <a:srgbClr val="FF0000"/>
                </a:solidFill>
              </a:rPr>
              <a:t>Output</a:t>
            </a:r>
            <a:r>
              <a:rPr lang="en-US" sz="2600" dirty="0"/>
              <a:t>: Document tagged with the model with highest probability distribution.</a:t>
            </a:r>
          </a:p>
          <a:p>
            <a:endParaRPr lang="en-US" sz="2600" dirty="0"/>
          </a:p>
        </p:txBody>
      </p:sp>
      <p:sp>
        <p:nvSpPr>
          <p:cNvPr id="4" name="Footer Placeholder 3">
            <a:extLst>
              <a:ext uri="{FF2B5EF4-FFF2-40B4-BE49-F238E27FC236}">
                <a16:creationId xmlns:a16="http://schemas.microsoft.com/office/drawing/2014/main" id="{659850AB-C5B6-49E4-9044-F844F897AAB9}"/>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2215464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879A-F2CE-4C6C-B5C5-E04C570F3992}"/>
              </a:ext>
            </a:extLst>
          </p:cNvPr>
          <p:cNvSpPr>
            <a:spLocks noGrp="1"/>
          </p:cNvSpPr>
          <p:nvPr>
            <p:ph type="title"/>
          </p:nvPr>
        </p:nvSpPr>
        <p:spPr/>
        <p:txBody>
          <a:bodyPr/>
          <a:lstStyle/>
          <a:p>
            <a:r>
              <a:rPr lang="en-US" dirty="0"/>
              <a:t>How LDA works	</a:t>
            </a:r>
          </a:p>
        </p:txBody>
      </p:sp>
      <p:sp>
        <p:nvSpPr>
          <p:cNvPr id="3" name="Content Placeholder 2">
            <a:extLst>
              <a:ext uri="{FF2B5EF4-FFF2-40B4-BE49-F238E27FC236}">
                <a16:creationId xmlns:a16="http://schemas.microsoft.com/office/drawing/2014/main" id="{42582ED5-1C59-41F1-BC0E-9F22B158F559}"/>
              </a:ext>
            </a:extLst>
          </p:cNvPr>
          <p:cNvSpPr>
            <a:spLocks noGrp="1"/>
          </p:cNvSpPr>
          <p:nvPr>
            <p:ph idx="1"/>
          </p:nvPr>
        </p:nvSpPr>
        <p:spPr/>
        <p:txBody>
          <a:bodyPr/>
          <a:lstStyle/>
          <a:p>
            <a:endParaRPr lang="en-US" dirty="0"/>
          </a:p>
          <a:p>
            <a:r>
              <a:rPr lang="en-US" dirty="0"/>
              <a:t>Step 1 : We first choose the number of topics that might be in the document. In our example, its K=3.</a:t>
            </a:r>
          </a:p>
          <a:p>
            <a:endParaRPr lang="en-US" dirty="0"/>
          </a:p>
          <a:p>
            <a:r>
              <a:rPr lang="en-US" dirty="0"/>
              <a:t>Step 2 : LDA randomly assigns each word of each document into one of the 3 topics. EX: The word ‘dog’ is randomly assigned to topic B.</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8AC713C5-F60A-4171-88E3-FA39E515EDEF}"/>
              </a:ext>
            </a:extLst>
          </p:cNvPr>
          <p:cNvSpPr>
            <a:spLocks noGrp="1"/>
          </p:cNvSpPr>
          <p:nvPr>
            <p:ph type="ftr" sz="quarter" idx="10"/>
          </p:nvPr>
        </p:nvSpPr>
        <p:spPr/>
        <p:txBody>
          <a:bodyPr/>
          <a:lstStyle/>
          <a:p>
            <a:pPr>
              <a:defRPr/>
            </a:pPr>
            <a:r>
              <a:rPr lang="en-US" dirty="0">
                <a:solidFill>
                  <a:srgbClr val="000000"/>
                </a:solidFill>
              </a:rPr>
              <a:t> </a:t>
            </a:r>
          </a:p>
        </p:txBody>
      </p:sp>
      <p:sp>
        <p:nvSpPr>
          <p:cNvPr id="5" name="TextBox 4">
            <a:extLst>
              <a:ext uri="{FF2B5EF4-FFF2-40B4-BE49-F238E27FC236}">
                <a16:creationId xmlns:a16="http://schemas.microsoft.com/office/drawing/2014/main" id="{618AC52E-FDEE-46B6-B8EA-E1EFA836C120}"/>
              </a:ext>
            </a:extLst>
          </p:cNvPr>
          <p:cNvSpPr txBox="1"/>
          <p:nvPr/>
        </p:nvSpPr>
        <p:spPr>
          <a:xfrm>
            <a:off x="6603628" y="267829"/>
            <a:ext cx="1778372" cy="1477328"/>
          </a:xfrm>
          <a:prstGeom prst="rect">
            <a:avLst/>
          </a:prstGeom>
          <a:noFill/>
        </p:spPr>
        <p:txBody>
          <a:bodyPr wrap="none" rtlCol="0">
            <a:spAutoFit/>
          </a:bodyPr>
          <a:lstStyle/>
          <a:p>
            <a:r>
              <a:rPr lang="en-US" dirty="0"/>
              <a:t>Assumptions:</a:t>
            </a:r>
          </a:p>
          <a:p>
            <a:r>
              <a:rPr lang="en-US" dirty="0"/>
              <a:t>Topic A - Animals</a:t>
            </a:r>
          </a:p>
          <a:p>
            <a:r>
              <a:rPr lang="en-US" dirty="0"/>
              <a:t>Topic B - Sports</a:t>
            </a:r>
          </a:p>
          <a:p>
            <a:r>
              <a:rPr lang="en-US" dirty="0"/>
              <a:t>Topic C - Tech</a:t>
            </a:r>
          </a:p>
          <a:p>
            <a:endParaRPr lang="en-US" dirty="0"/>
          </a:p>
        </p:txBody>
      </p:sp>
    </p:spTree>
    <p:extLst>
      <p:ext uri="{BB962C8B-B14F-4D97-AF65-F5344CB8AC3E}">
        <p14:creationId xmlns:p14="http://schemas.microsoft.com/office/powerpoint/2010/main" val="3677306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3909-C4F8-426C-996A-529471258676}"/>
              </a:ext>
            </a:extLst>
          </p:cNvPr>
          <p:cNvSpPr>
            <a:spLocks noGrp="1"/>
          </p:cNvSpPr>
          <p:nvPr>
            <p:ph type="title"/>
          </p:nvPr>
        </p:nvSpPr>
        <p:spPr/>
        <p:txBody>
          <a:bodyPr/>
          <a:lstStyle/>
          <a:p>
            <a:r>
              <a:rPr lang="en-US" dirty="0"/>
              <a:t>How LDA works	</a:t>
            </a:r>
          </a:p>
        </p:txBody>
      </p:sp>
      <p:sp>
        <p:nvSpPr>
          <p:cNvPr id="3" name="Content Placeholder 2">
            <a:extLst>
              <a:ext uri="{FF2B5EF4-FFF2-40B4-BE49-F238E27FC236}">
                <a16:creationId xmlns:a16="http://schemas.microsoft.com/office/drawing/2014/main" id="{B76B0533-E530-4037-BA46-34EBB652DDF3}"/>
              </a:ext>
            </a:extLst>
          </p:cNvPr>
          <p:cNvSpPr>
            <a:spLocks noGrp="1"/>
          </p:cNvSpPr>
          <p:nvPr>
            <p:ph idx="1"/>
          </p:nvPr>
        </p:nvSpPr>
        <p:spPr/>
        <p:txBody>
          <a:bodyPr/>
          <a:lstStyle/>
          <a:p>
            <a:r>
              <a:rPr lang="en-US" dirty="0"/>
              <a:t>Step 3 : After random assignment, LDA go through every word and its topic assignment. Now it sees how often this topic occurs in the document and how often the word occurs in the topic. Ex: Dog was previously assigned to sports. It is unlikely that it appears in the sports. So it will reassign it to a different topic </a:t>
            </a:r>
            <a:r>
              <a:rPr lang="en-US" dirty="0" err="1"/>
              <a:t>ie</a:t>
            </a:r>
            <a:r>
              <a:rPr lang="en-US" dirty="0"/>
              <a:t>. Topic A.</a:t>
            </a:r>
          </a:p>
          <a:p>
            <a:r>
              <a:rPr lang="en-US" dirty="0"/>
              <a:t>We have to make multiple iterations for the topics to make any real sense. </a:t>
            </a:r>
          </a:p>
          <a:p>
            <a:r>
              <a:rPr lang="en-US" dirty="0"/>
              <a:t>Step 4 : Then we must interpret the topics and figure out what the topics mean.</a:t>
            </a:r>
          </a:p>
          <a:p>
            <a:endParaRPr lang="en-US" dirty="0"/>
          </a:p>
        </p:txBody>
      </p:sp>
      <p:sp>
        <p:nvSpPr>
          <p:cNvPr id="4" name="Footer Placeholder 3">
            <a:extLst>
              <a:ext uri="{FF2B5EF4-FFF2-40B4-BE49-F238E27FC236}">
                <a16:creationId xmlns:a16="http://schemas.microsoft.com/office/drawing/2014/main" id="{66C6C9CC-6097-4D62-8C13-C98A471F1E49}"/>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163493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B2D97-77AC-4A98-85AB-152614682A5F}"/>
              </a:ext>
            </a:extLst>
          </p:cNvPr>
          <p:cNvSpPr>
            <a:spLocks noGrp="1"/>
          </p:cNvSpPr>
          <p:nvPr>
            <p:ph type="title"/>
          </p:nvPr>
        </p:nvSpPr>
        <p:spPr/>
        <p:txBody>
          <a:bodyPr/>
          <a:lstStyle/>
          <a:p>
            <a:r>
              <a:rPr lang="en-US" dirty="0"/>
              <a:t>Topic Modeling with </a:t>
            </a:r>
            <a:r>
              <a:rPr lang="en-US" dirty="0" err="1"/>
              <a:t>BigML</a:t>
            </a:r>
            <a:endParaRPr lang="en-US" dirty="0"/>
          </a:p>
        </p:txBody>
      </p:sp>
      <p:sp>
        <p:nvSpPr>
          <p:cNvPr id="3" name="Content Placeholder 2">
            <a:extLst>
              <a:ext uri="{FF2B5EF4-FFF2-40B4-BE49-F238E27FC236}">
                <a16:creationId xmlns:a16="http://schemas.microsoft.com/office/drawing/2014/main" id="{EAD6CBD6-50DE-4A98-B3A9-DF9AB8C7BC25}"/>
              </a:ext>
            </a:extLst>
          </p:cNvPr>
          <p:cNvSpPr>
            <a:spLocks noGrp="1"/>
          </p:cNvSpPr>
          <p:nvPr>
            <p:ph idx="1"/>
          </p:nvPr>
        </p:nvSpPr>
        <p:spPr/>
        <p:txBody>
          <a:bodyPr/>
          <a:lstStyle/>
          <a:p>
            <a:r>
              <a:rPr lang="en-US" dirty="0"/>
              <a:t>Data Description:</a:t>
            </a:r>
          </a:p>
          <a:p>
            <a:pPr marL="457200" lvl="1" indent="0">
              <a:buNone/>
            </a:pPr>
            <a:r>
              <a:rPr lang="en-US" dirty="0"/>
              <a:t>(Format: .csv)</a:t>
            </a:r>
          </a:p>
          <a:p>
            <a:pPr marL="457200" lvl="1" indent="0">
              <a:buNone/>
            </a:pPr>
            <a:endParaRPr lang="en-US" dirty="0"/>
          </a:p>
          <a:p>
            <a:pPr lvl="1"/>
            <a:r>
              <a:rPr lang="en-US" dirty="0" err="1"/>
              <a:t>publish_date</a:t>
            </a:r>
            <a:r>
              <a:rPr lang="en-US" dirty="0"/>
              <a:t>: Date of publishing for the article in </a:t>
            </a:r>
            <a:r>
              <a:rPr lang="en-US" dirty="0" err="1"/>
              <a:t>yyyyMMdd</a:t>
            </a:r>
            <a:r>
              <a:rPr lang="en-US" dirty="0"/>
              <a:t> format</a:t>
            </a:r>
          </a:p>
          <a:p>
            <a:pPr lvl="1"/>
            <a:endParaRPr lang="en-US" dirty="0"/>
          </a:p>
          <a:p>
            <a:pPr lvl="1"/>
            <a:r>
              <a:rPr lang="en-US" dirty="0" err="1"/>
              <a:t>headline_text</a:t>
            </a:r>
            <a:r>
              <a:rPr lang="en-US" dirty="0"/>
              <a:t>: Text of the headline in Ascii , English , lowercase</a:t>
            </a:r>
          </a:p>
          <a:p>
            <a:pPr lvl="1"/>
            <a:endParaRPr lang="en-US" dirty="0"/>
          </a:p>
          <a:p>
            <a:pPr lvl="1"/>
            <a:r>
              <a:rPr lang="en-US" dirty="0"/>
              <a:t>Start Date: 2003-02-19 ; End Date: 2019-12-31</a:t>
            </a:r>
          </a:p>
          <a:p>
            <a:endParaRPr lang="en-US" dirty="0"/>
          </a:p>
        </p:txBody>
      </p:sp>
      <p:sp>
        <p:nvSpPr>
          <p:cNvPr id="4" name="Footer Placeholder 3">
            <a:extLst>
              <a:ext uri="{FF2B5EF4-FFF2-40B4-BE49-F238E27FC236}">
                <a16:creationId xmlns:a16="http://schemas.microsoft.com/office/drawing/2014/main" id="{69945EF7-2FE6-403F-B8BF-7F46F3406D80}"/>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3346252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75282-B830-41BB-A24D-411AECB58B48}"/>
              </a:ext>
            </a:extLst>
          </p:cNvPr>
          <p:cNvSpPr>
            <a:spLocks noGrp="1"/>
          </p:cNvSpPr>
          <p:nvPr>
            <p:ph type="title"/>
          </p:nvPr>
        </p:nvSpPr>
        <p:spPr/>
        <p:txBody>
          <a:bodyPr/>
          <a:lstStyle/>
          <a:p>
            <a:pPr algn="l"/>
            <a:r>
              <a:rPr lang="en-US" dirty="0"/>
              <a:t>Steps:</a:t>
            </a:r>
          </a:p>
        </p:txBody>
      </p:sp>
      <p:sp>
        <p:nvSpPr>
          <p:cNvPr id="3" name="Content Placeholder 2">
            <a:extLst>
              <a:ext uri="{FF2B5EF4-FFF2-40B4-BE49-F238E27FC236}">
                <a16:creationId xmlns:a16="http://schemas.microsoft.com/office/drawing/2014/main" id="{BC75587C-3DA7-4AA4-9125-78E23720E012}"/>
              </a:ext>
            </a:extLst>
          </p:cNvPr>
          <p:cNvSpPr>
            <a:spLocks noGrp="1"/>
          </p:cNvSpPr>
          <p:nvPr>
            <p:ph idx="1"/>
          </p:nvPr>
        </p:nvSpPr>
        <p:spPr/>
        <p:txBody>
          <a:bodyPr/>
          <a:lstStyle/>
          <a:p>
            <a:pPr marL="514350" indent="-514350">
              <a:buAutoNum type="arabicPeriod"/>
            </a:pPr>
            <a:r>
              <a:rPr lang="en-US" dirty="0"/>
              <a:t>We start by loading the .csv file into </a:t>
            </a:r>
            <a:r>
              <a:rPr lang="en-US" dirty="0" err="1"/>
              <a:t>BigML</a:t>
            </a:r>
            <a:endParaRPr lang="en-US" dirty="0"/>
          </a:p>
          <a:p>
            <a:pPr marL="0" indent="0">
              <a:buNone/>
            </a:pPr>
            <a:endParaRPr lang="en-US" dirty="0"/>
          </a:p>
          <a:p>
            <a:pPr marL="0" indent="0">
              <a:buNone/>
            </a:pPr>
            <a:r>
              <a:rPr lang="en-US" dirty="0"/>
              <a:t>2. We will convert it into dataset. We will use one click dataset.</a:t>
            </a:r>
          </a:p>
          <a:p>
            <a:pPr marL="0" indent="0">
              <a:buNone/>
            </a:pPr>
            <a:r>
              <a:rPr lang="en-US" dirty="0"/>
              <a:t>	As this has Date-Time field, </a:t>
            </a:r>
            <a:r>
              <a:rPr lang="en-US" dirty="0" err="1"/>
              <a:t>BigML</a:t>
            </a:r>
            <a:r>
              <a:rPr lang="en-US" dirty="0"/>
              <a:t> automatically creates Year, Date, Month and Day of the week field. </a:t>
            </a:r>
          </a:p>
          <a:p>
            <a:pPr marL="0" indent="0">
              <a:buNone/>
            </a:pPr>
            <a:endParaRPr lang="en-US" dirty="0"/>
          </a:p>
          <a:p>
            <a:pPr marL="0" indent="0">
              <a:buNone/>
            </a:pPr>
            <a:r>
              <a:rPr lang="en-US" dirty="0"/>
              <a:t>3. There are 6 fields in the dataset. We will concentrate just on text field.</a:t>
            </a:r>
          </a:p>
          <a:p>
            <a:endParaRPr lang="en-US" dirty="0"/>
          </a:p>
        </p:txBody>
      </p:sp>
      <p:sp>
        <p:nvSpPr>
          <p:cNvPr id="4" name="Footer Placeholder 3">
            <a:extLst>
              <a:ext uri="{FF2B5EF4-FFF2-40B4-BE49-F238E27FC236}">
                <a16:creationId xmlns:a16="http://schemas.microsoft.com/office/drawing/2014/main" id="{A75193B2-F120-4D4E-B162-44C426A10C94}"/>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2204637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5D85F3C-758D-471F-803B-F6D53C34E180}"/>
              </a:ext>
            </a:extLst>
          </p:cNvPr>
          <p:cNvSpPr>
            <a:spLocks noGrp="1"/>
          </p:cNvSpPr>
          <p:nvPr>
            <p:ph type="ftr" sz="quarter" idx="10"/>
          </p:nvPr>
        </p:nvSpPr>
        <p:spPr/>
        <p:txBody>
          <a:bodyPr/>
          <a:lstStyle/>
          <a:p>
            <a:pPr>
              <a:defRPr/>
            </a:pPr>
            <a:r>
              <a:rPr lang="en-US" dirty="0">
                <a:solidFill>
                  <a:srgbClr val="000000"/>
                </a:solidFill>
              </a:rPr>
              <a:t> </a:t>
            </a:r>
          </a:p>
        </p:txBody>
      </p:sp>
      <p:pic>
        <p:nvPicPr>
          <p:cNvPr id="5" name="Content Placeholder 6">
            <a:extLst>
              <a:ext uri="{FF2B5EF4-FFF2-40B4-BE49-F238E27FC236}">
                <a16:creationId xmlns:a16="http://schemas.microsoft.com/office/drawing/2014/main" id="{8B8F149B-4524-4090-830F-127B34E2D983}"/>
              </a:ext>
            </a:extLst>
          </p:cNvPr>
          <p:cNvPicPr>
            <a:picLocks noGrp="1" noChangeAspect="1"/>
          </p:cNvPicPr>
          <p:nvPr>
            <p:ph idx="1"/>
          </p:nvPr>
        </p:nvPicPr>
        <p:blipFill rotWithShape="1">
          <a:blip r:embed="rId2"/>
          <a:srcRect t="3153" r="1" b="1"/>
          <a:stretch/>
        </p:blipFill>
        <p:spPr>
          <a:xfrm>
            <a:off x="457200" y="1326874"/>
            <a:ext cx="8077200" cy="4128052"/>
          </a:xfrm>
          <a:prstGeom prst="rect">
            <a:avLst/>
          </a:prstGeom>
        </p:spPr>
      </p:pic>
    </p:spTree>
    <p:extLst>
      <p:ext uri="{BB962C8B-B14F-4D97-AF65-F5344CB8AC3E}">
        <p14:creationId xmlns:p14="http://schemas.microsoft.com/office/powerpoint/2010/main" val="1112263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3CF3-0E2F-4EB7-8A4C-CA6E8A34D664}"/>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C88F0453-3329-4AEA-AC5E-F983E4BBDA4B}"/>
              </a:ext>
            </a:extLst>
          </p:cNvPr>
          <p:cNvSpPr>
            <a:spLocks noGrp="1"/>
          </p:cNvSpPr>
          <p:nvPr>
            <p:ph idx="1"/>
          </p:nvPr>
        </p:nvSpPr>
        <p:spPr/>
        <p:txBody>
          <a:bodyPr/>
          <a:lstStyle/>
          <a:p>
            <a:r>
              <a:rPr lang="en-US" dirty="0"/>
              <a:t>We can see the histogram of the text field on the right side.</a:t>
            </a:r>
          </a:p>
          <a:p>
            <a:pPr marL="0" indent="0">
              <a:buNone/>
            </a:pPr>
            <a:endParaRPr lang="en-US" dirty="0"/>
          </a:p>
          <a:p>
            <a:r>
              <a:rPr lang="en-US" dirty="0"/>
              <a:t>We can hover on this histogram and find the number of instance of top words within the document.</a:t>
            </a:r>
          </a:p>
          <a:p>
            <a:endParaRPr lang="en-US" dirty="0"/>
          </a:p>
          <a:p>
            <a:r>
              <a:rPr lang="en-US" dirty="0"/>
              <a:t>We see that the word ‘Police’ has the highest number of instances in the document. We can create a tag cloud by clicking on the cloud text icon.</a:t>
            </a:r>
          </a:p>
          <a:p>
            <a:endParaRPr lang="en-US" dirty="0"/>
          </a:p>
        </p:txBody>
      </p:sp>
      <p:sp>
        <p:nvSpPr>
          <p:cNvPr id="4" name="Footer Placeholder 3">
            <a:extLst>
              <a:ext uri="{FF2B5EF4-FFF2-40B4-BE49-F238E27FC236}">
                <a16:creationId xmlns:a16="http://schemas.microsoft.com/office/drawing/2014/main" id="{71BD370E-5A24-475C-B991-FDA4209AABEE}"/>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1151149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window&#10;&#10;Description automatically generated">
            <a:extLst>
              <a:ext uri="{FF2B5EF4-FFF2-40B4-BE49-F238E27FC236}">
                <a16:creationId xmlns:a16="http://schemas.microsoft.com/office/drawing/2014/main" id="{471BBB0F-1F9F-4400-8A99-5959E343CA9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tretch/>
        </p:blipFill>
        <p:spPr>
          <a:xfrm>
            <a:off x="90488" y="1072254"/>
            <a:ext cx="8963025" cy="5176146"/>
          </a:xfrm>
          <a:prstGeom prst="rect">
            <a:avLst/>
          </a:prstGeom>
          <a:noFill/>
        </p:spPr>
      </p:pic>
      <p:sp>
        <p:nvSpPr>
          <p:cNvPr id="4" name="Footer Placeholder 3">
            <a:extLst>
              <a:ext uri="{FF2B5EF4-FFF2-40B4-BE49-F238E27FC236}">
                <a16:creationId xmlns:a16="http://schemas.microsoft.com/office/drawing/2014/main" id="{8C34FEDD-0AE0-4D93-B32F-3B9B14EE03FC}"/>
              </a:ext>
            </a:extLst>
          </p:cNvPr>
          <p:cNvSpPr>
            <a:spLocks noGrp="1"/>
          </p:cNvSpPr>
          <p:nvPr>
            <p:ph type="ftr" sz="quarter" idx="10"/>
          </p:nvPr>
        </p:nvSpPr>
        <p:spPr/>
        <p:txBody>
          <a:bodyPr/>
          <a:lstStyle/>
          <a:p>
            <a:pPr>
              <a:spcAft>
                <a:spcPts val="600"/>
              </a:spcAft>
              <a:defRPr/>
            </a:pPr>
            <a:r>
              <a:rPr lang="en-US" dirty="0">
                <a:solidFill>
                  <a:srgbClr val="000000"/>
                </a:solidFill>
              </a:rPr>
              <a:t> </a:t>
            </a:r>
          </a:p>
        </p:txBody>
      </p:sp>
      <p:sp>
        <p:nvSpPr>
          <p:cNvPr id="6" name="Title 1">
            <a:extLst>
              <a:ext uri="{FF2B5EF4-FFF2-40B4-BE49-F238E27FC236}">
                <a16:creationId xmlns:a16="http://schemas.microsoft.com/office/drawing/2014/main" id="{CCE6F4FA-03E7-4A24-AB60-8846D4C8A8EB}"/>
              </a:ext>
            </a:extLst>
          </p:cNvPr>
          <p:cNvSpPr txBox="1">
            <a:spLocks/>
          </p:cNvSpPr>
          <p:nvPr/>
        </p:nvSpPr>
        <p:spPr>
          <a:xfrm>
            <a:off x="-609600" y="195654"/>
            <a:ext cx="10515600" cy="822326"/>
          </a:xfrm>
          <a:prstGeom prst="rect">
            <a:avLst/>
          </a:prstGeom>
        </p:spPr>
        <p:txBody>
          <a:bodyPr vert="horz" lIns="91440" tIns="45720" rIns="91440" bIns="45720" rtlCol="0" anchor="ctr">
            <a:normAutofit/>
          </a:bodyPr>
          <a:lstStyle>
            <a:lvl1pPr algn="ctr" rtl="0" eaLnBrk="0" fontAlgn="base" hangingPunct="0">
              <a:spcBef>
                <a:spcPct val="0"/>
              </a:spcBef>
              <a:spcAft>
                <a:spcPct val="0"/>
              </a:spcAft>
              <a:defRPr sz="3200" b="1">
                <a:solidFill>
                  <a:srgbClr val="000099"/>
                </a:solidFill>
                <a:latin typeface="+mj-lt"/>
                <a:ea typeface="+mj-ea"/>
                <a:cs typeface="+mj-cs"/>
              </a:defRPr>
            </a:lvl1pPr>
            <a:lvl2pPr algn="ctr" rtl="0" eaLnBrk="0" fontAlgn="base" hangingPunct="0">
              <a:spcBef>
                <a:spcPct val="0"/>
              </a:spcBef>
              <a:spcAft>
                <a:spcPct val="0"/>
              </a:spcAft>
              <a:defRPr sz="3200" b="1">
                <a:solidFill>
                  <a:srgbClr val="000099"/>
                </a:solidFill>
                <a:latin typeface="Times New Roman" pitchFamily="18" charset="0"/>
              </a:defRPr>
            </a:lvl2pPr>
            <a:lvl3pPr algn="ctr" rtl="0" eaLnBrk="0" fontAlgn="base" hangingPunct="0">
              <a:spcBef>
                <a:spcPct val="0"/>
              </a:spcBef>
              <a:spcAft>
                <a:spcPct val="0"/>
              </a:spcAft>
              <a:defRPr sz="3200" b="1">
                <a:solidFill>
                  <a:srgbClr val="000099"/>
                </a:solidFill>
                <a:latin typeface="Times New Roman" pitchFamily="18" charset="0"/>
              </a:defRPr>
            </a:lvl3pPr>
            <a:lvl4pPr algn="ctr" rtl="0" eaLnBrk="0" fontAlgn="base" hangingPunct="0">
              <a:spcBef>
                <a:spcPct val="0"/>
              </a:spcBef>
              <a:spcAft>
                <a:spcPct val="0"/>
              </a:spcAft>
              <a:defRPr sz="3200" b="1">
                <a:solidFill>
                  <a:srgbClr val="000099"/>
                </a:solidFill>
                <a:latin typeface="Times New Roman" pitchFamily="18" charset="0"/>
              </a:defRPr>
            </a:lvl4pPr>
            <a:lvl5pPr algn="ctr" rtl="0" eaLnBrk="0" fontAlgn="base" hangingPunct="0">
              <a:spcBef>
                <a:spcPct val="0"/>
              </a:spcBef>
              <a:spcAft>
                <a:spcPct val="0"/>
              </a:spcAft>
              <a:defRPr sz="3200" b="1">
                <a:solidFill>
                  <a:srgbClr val="000099"/>
                </a:solidFill>
                <a:latin typeface="Times New Roman" pitchFamily="18" charset="0"/>
              </a:defRPr>
            </a:lvl5pPr>
            <a:lvl6pPr marL="457200" algn="ctr" rtl="0" fontAlgn="base">
              <a:spcBef>
                <a:spcPct val="0"/>
              </a:spcBef>
              <a:spcAft>
                <a:spcPct val="0"/>
              </a:spcAft>
              <a:defRPr sz="3200" b="1">
                <a:solidFill>
                  <a:srgbClr val="000099"/>
                </a:solidFill>
                <a:latin typeface="Times New Roman" pitchFamily="18" charset="0"/>
              </a:defRPr>
            </a:lvl6pPr>
            <a:lvl7pPr marL="914400" algn="ctr" rtl="0" fontAlgn="base">
              <a:spcBef>
                <a:spcPct val="0"/>
              </a:spcBef>
              <a:spcAft>
                <a:spcPct val="0"/>
              </a:spcAft>
              <a:defRPr sz="3200" b="1">
                <a:solidFill>
                  <a:srgbClr val="000099"/>
                </a:solidFill>
                <a:latin typeface="Times New Roman" pitchFamily="18" charset="0"/>
              </a:defRPr>
            </a:lvl7pPr>
            <a:lvl8pPr marL="1371600" algn="ctr" rtl="0" fontAlgn="base">
              <a:spcBef>
                <a:spcPct val="0"/>
              </a:spcBef>
              <a:spcAft>
                <a:spcPct val="0"/>
              </a:spcAft>
              <a:defRPr sz="3200" b="1">
                <a:solidFill>
                  <a:srgbClr val="000099"/>
                </a:solidFill>
                <a:latin typeface="Times New Roman" pitchFamily="18" charset="0"/>
              </a:defRPr>
            </a:lvl8pPr>
            <a:lvl9pPr marL="1828800" algn="ctr" rtl="0" fontAlgn="base">
              <a:spcBef>
                <a:spcPct val="0"/>
              </a:spcBef>
              <a:spcAft>
                <a:spcPct val="0"/>
              </a:spcAft>
              <a:defRPr sz="3200" b="1">
                <a:solidFill>
                  <a:srgbClr val="000099"/>
                </a:solidFill>
                <a:latin typeface="Times New Roman" pitchFamily="18" charset="0"/>
              </a:defRPr>
            </a:lvl9pPr>
          </a:lstStyle>
          <a:p>
            <a:r>
              <a:rPr lang="en-US" kern="0" dirty="0"/>
              <a:t>Text Cloud representation</a:t>
            </a:r>
          </a:p>
        </p:txBody>
      </p:sp>
    </p:spTree>
    <p:extLst>
      <p:ext uri="{BB962C8B-B14F-4D97-AF65-F5344CB8AC3E}">
        <p14:creationId xmlns:p14="http://schemas.microsoft.com/office/powerpoint/2010/main" val="3271284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F3EC5-97AF-48CA-B463-C279C9546880}"/>
              </a:ext>
            </a:extLst>
          </p:cNvPr>
          <p:cNvSpPr>
            <a:spLocks noGrp="1"/>
          </p:cNvSpPr>
          <p:nvPr>
            <p:ph type="title"/>
          </p:nvPr>
        </p:nvSpPr>
        <p:spPr/>
        <p:txBody>
          <a:bodyPr/>
          <a:lstStyle/>
          <a:p>
            <a:r>
              <a:rPr lang="en-US" dirty="0"/>
              <a:t>Configuring Topic Model</a:t>
            </a:r>
          </a:p>
        </p:txBody>
      </p:sp>
      <p:sp>
        <p:nvSpPr>
          <p:cNvPr id="3" name="Content Placeholder 2">
            <a:extLst>
              <a:ext uri="{FF2B5EF4-FFF2-40B4-BE49-F238E27FC236}">
                <a16:creationId xmlns:a16="http://schemas.microsoft.com/office/drawing/2014/main" id="{B1C6755B-5253-4470-9E9B-06FFB341B59E}"/>
              </a:ext>
            </a:extLst>
          </p:cNvPr>
          <p:cNvSpPr>
            <a:spLocks noGrp="1"/>
          </p:cNvSpPr>
          <p:nvPr>
            <p:ph idx="1"/>
          </p:nvPr>
        </p:nvSpPr>
        <p:spPr/>
        <p:txBody>
          <a:bodyPr/>
          <a:lstStyle/>
          <a:p>
            <a:r>
              <a:rPr lang="en-US" dirty="0" err="1"/>
              <a:t>BigML</a:t>
            </a:r>
            <a:r>
              <a:rPr lang="en-US" dirty="0"/>
              <a:t> provides us with options to configure the model we are building.</a:t>
            </a:r>
          </a:p>
          <a:p>
            <a:r>
              <a:rPr lang="en-US" dirty="0"/>
              <a:t>Selecting ‘Topic Modeling’ from the gear icon             will allow you to configure the model.</a:t>
            </a:r>
          </a:p>
          <a:p>
            <a:endParaRPr lang="en-US" dirty="0"/>
          </a:p>
        </p:txBody>
      </p:sp>
      <p:sp>
        <p:nvSpPr>
          <p:cNvPr id="4" name="Footer Placeholder 3">
            <a:extLst>
              <a:ext uri="{FF2B5EF4-FFF2-40B4-BE49-F238E27FC236}">
                <a16:creationId xmlns:a16="http://schemas.microsoft.com/office/drawing/2014/main" id="{AFCA7717-AC92-42A0-A823-817E64CDD28D}"/>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8E5B7BA3-5EBE-461C-9E8E-4DFD48547158}"/>
              </a:ext>
            </a:extLst>
          </p:cNvPr>
          <p:cNvPicPr>
            <a:picLocks noChangeAspect="1"/>
          </p:cNvPicPr>
          <p:nvPr/>
        </p:nvPicPr>
        <p:blipFill>
          <a:blip r:embed="rId2"/>
          <a:stretch>
            <a:fillRect/>
          </a:stretch>
        </p:blipFill>
        <p:spPr>
          <a:xfrm>
            <a:off x="792294" y="3581400"/>
            <a:ext cx="7559411" cy="2423894"/>
          </a:xfrm>
          <a:prstGeom prst="rect">
            <a:avLst/>
          </a:prstGeom>
        </p:spPr>
      </p:pic>
      <p:pic>
        <p:nvPicPr>
          <p:cNvPr id="6" name="Picture 5">
            <a:extLst>
              <a:ext uri="{FF2B5EF4-FFF2-40B4-BE49-F238E27FC236}">
                <a16:creationId xmlns:a16="http://schemas.microsoft.com/office/drawing/2014/main" id="{008B11D9-70AA-4B75-B237-A133212E6FF5}"/>
              </a:ext>
            </a:extLst>
          </p:cNvPr>
          <p:cNvPicPr>
            <a:picLocks noChangeAspect="1"/>
          </p:cNvPicPr>
          <p:nvPr/>
        </p:nvPicPr>
        <p:blipFill>
          <a:blip r:embed="rId3"/>
          <a:stretch>
            <a:fillRect/>
          </a:stretch>
        </p:blipFill>
        <p:spPr>
          <a:xfrm>
            <a:off x="7943157" y="2133600"/>
            <a:ext cx="817096" cy="555625"/>
          </a:xfrm>
          <a:prstGeom prst="rect">
            <a:avLst/>
          </a:prstGeom>
        </p:spPr>
      </p:pic>
    </p:spTree>
    <p:extLst>
      <p:ext uri="{BB962C8B-B14F-4D97-AF65-F5344CB8AC3E}">
        <p14:creationId xmlns:p14="http://schemas.microsoft.com/office/powerpoint/2010/main" val="559307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55BE-7994-4B91-90AB-A7AA8AEA7FB2}"/>
              </a:ext>
            </a:extLst>
          </p:cNvPr>
          <p:cNvSpPr>
            <a:spLocks noGrp="1"/>
          </p:cNvSpPr>
          <p:nvPr>
            <p:ph type="title"/>
          </p:nvPr>
        </p:nvSpPr>
        <p:spPr/>
        <p:txBody>
          <a:bodyPr/>
          <a:lstStyle/>
          <a:p>
            <a:r>
              <a:rPr lang="en-US" dirty="0"/>
              <a:t>Basic Configuration:</a:t>
            </a:r>
          </a:p>
        </p:txBody>
      </p:sp>
      <p:sp>
        <p:nvSpPr>
          <p:cNvPr id="3" name="Content Placeholder 2">
            <a:extLst>
              <a:ext uri="{FF2B5EF4-FFF2-40B4-BE49-F238E27FC236}">
                <a16:creationId xmlns:a16="http://schemas.microsoft.com/office/drawing/2014/main" id="{5809F9BA-2502-42F3-9920-88CD9C627BBC}"/>
              </a:ext>
            </a:extLst>
          </p:cNvPr>
          <p:cNvSpPr>
            <a:spLocks noGrp="1"/>
          </p:cNvSpPr>
          <p:nvPr>
            <p:ph idx="1"/>
          </p:nvPr>
        </p:nvSpPr>
        <p:spPr/>
        <p:txBody>
          <a:bodyPr/>
          <a:lstStyle/>
          <a:p>
            <a:r>
              <a:rPr lang="en-US" sz="2400" dirty="0"/>
              <a:t>Number of Topics: We have an option to automatically set the number of topics. We can switch to manual to set it into a predefined value. ( We have to switch from auto to manual to do this)</a:t>
            </a:r>
          </a:p>
          <a:p>
            <a:endParaRPr lang="en-US" sz="2400" dirty="0"/>
          </a:p>
          <a:p>
            <a:endParaRPr lang="en-US" sz="2400" dirty="0"/>
          </a:p>
          <a:p>
            <a:r>
              <a:rPr lang="en-US" sz="2400" dirty="0"/>
              <a:t>Number of Top Terms: This determines number of terms each topic can have. </a:t>
            </a:r>
          </a:p>
          <a:p>
            <a:pPr marL="0" indent="0">
              <a:buNone/>
            </a:pPr>
            <a:endParaRPr lang="en-US" sz="2400" dirty="0"/>
          </a:p>
          <a:p>
            <a:r>
              <a:rPr lang="en-US" sz="2400" dirty="0"/>
              <a:t>Term Limit:  The total number of unique terms to be considered for the Topic Model vocabulary. By default it is set to 4,096, the maximum is 16,384 unique terms.</a:t>
            </a:r>
          </a:p>
          <a:p>
            <a:endParaRPr lang="en-US" sz="2400" dirty="0"/>
          </a:p>
        </p:txBody>
      </p:sp>
      <p:sp>
        <p:nvSpPr>
          <p:cNvPr id="4" name="Footer Placeholder 3">
            <a:extLst>
              <a:ext uri="{FF2B5EF4-FFF2-40B4-BE49-F238E27FC236}">
                <a16:creationId xmlns:a16="http://schemas.microsoft.com/office/drawing/2014/main" id="{3F77C40C-358D-42DE-A8C7-F5D3C7162C86}"/>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28CED08F-87BC-4E1C-9CAD-BFEED0645C66}"/>
              </a:ext>
            </a:extLst>
          </p:cNvPr>
          <p:cNvPicPr>
            <a:picLocks noChangeAspect="1"/>
          </p:cNvPicPr>
          <p:nvPr/>
        </p:nvPicPr>
        <p:blipFill>
          <a:blip r:embed="rId2"/>
          <a:stretch>
            <a:fillRect/>
          </a:stretch>
        </p:blipFill>
        <p:spPr>
          <a:xfrm>
            <a:off x="3514725" y="2733675"/>
            <a:ext cx="2266950" cy="695325"/>
          </a:xfrm>
          <a:prstGeom prst="rect">
            <a:avLst/>
          </a:prstGeom>
        </p:spPr>
      </p:pic>
    </p:spTree>
    <p:extLst>
      <p:ext uri="{BB962C8B-B14F-4D97-AF65-F5344CB8AC3E}">
        <p14:creationId xmlns:p14="http://schemas.microsoft.com/office/powerpoint/2010/main" val="1350921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409DA-0F58-442B-BAD7-DCC3945AC12F}"/>
              </a:ext>
            </a:extLst>
          </p:cNvPr>
          <p:cNvSpPr>
            <a:spLocks noGrp="1"/>
          </p:cNvSpPr>
          <p:nvPr>
            <p:ph type="title"/>
          </p:nvPr>
        </p:nvSpPr>
        <p:spPr/>
        <p:txBody>
          <a:bodyPr/>
          <a:lstStyle/>
          <a:p>
            <a:r>
              <a:rPr lang="en-US" dirty="0"/>
              <a:t>Advanced Configuration</a:t>
            </a:r>
          </a:p>
        </p:txBody>
      </p:sp>
      <p:sp>
        <p:nvSpPr>
          <p:cNvPr id="4" name="Footer Placeholder 3">
            <a:extLst>
              <a:ext uri="{FF2B5EF4-FFF2-40B4-BE49-F238E27FC236}">
                <a16:creationId xmlns:a16="http://schemas.microsoft.com/office/drawing/2014/main" id="{A93D42BD-4BFE-4386-818A-E3FB4B6F9134}"/>
              </a:ext>
            </a:extLst>
          </p:cNvPr>
          <p:cNvSpPr>
            <a:spLocks noGrp="1"/>
          </p:cNvSpPr>
          <p:nvPr>
            <p:ph type="ftr" sz="quarter" idx="10"/>
          </p:nvPr>
        </p:nvSpPr>
        <p:spPr/>
        <p:txBody>
          <a:bodyPr/>
          <a:lstStyle/>
          <a:p>
            <a:pPr>
              <a:defRPr/>
            </a:pPr>
            <a:r>
              <a:rPr lang="en-US" dirty="0">
                <a:solidFill>
                  <a:srgbClr val="000000"/>
                </a:solidFill>
              </a:rPr>
              <a:t> </a:t>
            </a:r>
          </a:p>
        </p:txBody>
      </p:sp>
      <p:pic>
        <p:nvPicPr>
          <p:cNvPr id="5" name="Content Placeholder 3">
            <a:extLst>
              <a:ext uri="{FF2B5EF4-FFF2-40B4-BE49-F238E27FC236}">
                <a16:creationId xmlns:a16="http://schemas.microsoft.com/office/drawing/2014/main" id="{A5A22AA4-ED22-4C41-B723-EB95AF9596B3}"/>
              </a:ext>
            </a:extLst>
          </p:cNvPr>
          <p:cNvPicPr>
            <a:picLocks noGrp="1" noChangeAspect="1"/>
          </p:cNvPicPr>
          <p:nvPr>
            <p:ph idx="1"/>
          </p:nvPr>
        </p:nvPicPr>
        <p:blipFill>
          <a:blip r:embed="rId2"/>
          <a:stretch>
            <a:fillRect/>
          </a:stretch>
        </p:blipFill>
        <p:spPr>
          <a:xfrm>
            <a:off x="762000" y="2248109"/>
            <a:ext cx="7772400" cy="2987256"/>
          </a:xfrm>
          <a:prstGeom prst="rect">
            <a:avLst/>
          </a:prstGeom>
        </p:spPr>
      </p:pic>
    </p:spTree>
    <p:extLst>
      <p:ext uri="{BB962C8B-B14F-4D97-AF65-F5344CB8AC3E}">
        <p14:creationId xmlns:p14="http://schemas.microsoft.com/office/powerpoint/2010/main" val="1622529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8990D-C11B-4962-9B09-654E866BFBB2}"/>
              </a:ext>
            </a:extLst>
          </p:cNvPr>
          <p:cNvSpPr>
            <a:spLocks noGrp="1"/>
          </p:cNvSpPr>
          <p:nvPr>
            <p:ph type="title"/>
          </p:nvPr>
        </p:nvSpPr>
        <p:spPr/>
        <p:txBody>
          <a:bodyPr/>
          <a:lstStyle/>
          <a:p>
            <a:r>
              <a:rPr lang="en-US" dirty="0"/>
              <a:t>Advanced Configuration	</a:t>
            </a:r>
          </a:p>
        </p:txBody>
      </p:sp>
      <p:sp>
        <p:nvSpPr>
          <p:cNvPr id="3" name="Content Placeholder 2">
            <a:extLst>
              <a:ext uri="{FF2B5EF4-FFF2-40B4-BE49-F238E27FC236}">
                <a16:creationId xmlns:a16="http://schemas.microsoft.com/office/drawing/2014/main" id="{8F8A21CF-5707-4255-A2B4-F87AAAA632BE}"/>
              </a:ext>
            </a:extLst>
          </p:cNvPr>
          <p:cNvSpPr>
            <a:spLocks noGrp="1"/>
          </p:cNvSpPr>
          <p:nvPr>
            <p:ph idx="1"/>
          </p:nvPr>
        </p:nvSpPr>
        <p:spPr/>
        <p:txBody>
          <a:bodyPr/>
          <a:lstStyle/>
          <a:p>
            <a:r>
              <a:rPr lang="en-US" sz="2400" dirty="0"/>
              <a:t>Language: </a:t>
            </a:r>
            <a:r>
              <a:rPr lang="en-US" sz="2400" dirty="0" err="1"/>
              <a:t>BigML</a:t>
            </a:r>
            <a:r>
              <a:rPr lang="en-US" sz="2400" dirty="0"/>
              <a:t> supports 22 languages. By default it is in ‘</a:t>
            </a:r>
            <a:r>
              <a:rPr lang="en-US" sz="2400" dirty="0" err="1"/>
              <a:t>Autoselect</a:t>
            </a:r>
            <a:r>
              <a:rPr lang="en-US" sz="2400" dirty="0"/>
              <a:t>’. We also have an option to select one among the list.</a:t>
            </a:r>
          </a:p>
          <a:p>
            <a:r>
              <a:rPr lang="en-US" sz="2400" dirty="0"/>
              <a:t>Tokenize : We can tokenize all the words or only the tokens. By default Topic Models will always tokenize your text fields by terms </a:t>
            </a:r>
          </a:p>
          <a:p>
            <a:r>
              <a:rPr lang="en-US" sz="2400" dirty="0"/>
              <a:t>Stop words removal: Stop words such as ‘a’, ‘an’, ‘in’ will be automatically detected and removed by </a:t>
            </a:r>
            <a:r>
              <a:rPr lang="en-US" sz="2400" dirty="0" err="1"/>
              <a:t>BigML</a:t>
            </a:r>
            <a:r>
              <a:rPr lang="en-US" sz="2400" dirty="0"/>
              <a:t>.</a:t>
            </a:r>
          </a:p>
          <a:p>
            <a:r>
              <a:rPr lang="en-US" sz="2400" dirty="0"/>
              <a:t>Max n-grams: Whether the Topic Model, apart from single terms, should include pairs of terms that typically go together (e.g.: “United States” or “mobile phone”). By default this option is not active and selected to Unigram.</a:t>
            </a:r>
          </a:p>
          <a:p>
            <a:endParaRPr lang="en-US" sz="2400" dirty="0"/>
          </a:p>
          <a:p>
            <a:endParaRPr lang="en-US" sz="2400" dirty="0"/>
          </a:p>
        </p:txBody>
      </p:sp>
      <p:sp>
        <p:nvSpPr>
          <p:cNvPr id="4" name="Footer Placeholder 3">
            <a:extLst>
              <a:ext uri="{FF2B5EF4-FFF2-40B4-BE49-F238E27FC236}">
                <a16:creationId xmlns:a16="http://schemas.microsoft.com/office/drawing/2014/main" id="{A822015A-95EC-401B-ACEB-24922170C2A5}"/>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862899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53517-C051-46DE-9214-C52CD057B2D2}"/>
              </a:ext>
            </a:extLst>
          </p:cNvPr>
          <p:cNvSpPr>
            <a:spLocks noGrp="1"/>
          </p:cNvSpPr>
          <p:nvPr>
            <p:ph type="title"/>
          </p:nvPr>
        </p:nvSpPr>
        <p:spPr/>
        <p:txBody>
          <a:bodyPr/>
          <a:lstStyle/>
          <a:p>
            <a:r>
              <a:rPr lang="en-US" dirty="0"/>
              <a:t>Advanced Configuration</a:t>
            </a:r>
          </a:p>
        </p:txBody>
      </p:sp>
      <p:sp>
        <p:nvSpPr>
          <p:cNvPr id="3" name="Content Placeholder 2">
            <a:extLst>
              <a:ext uri="{FF2B5EF4-FFF2-40B4-BE49-F238E27FC236}">
                <a16:creationId xmlns:a16="http://schemas.microsoft.com/office/drawing/2014/main" id="{B3E8425B-2F36-42F8-A994-D89731FD9B21}"/>
              </a:ext>
            </a:extLst>
          </p:cNvPr>
          <p:cNvSpPr>
            <a:spLocks noGrp="1"/>
          </p:cNvSpPr>
          <p:nvPr>
            <p:ph idx="1"/>
          </p:nvPr>
        </p:nvSpPr>
        <p:spPr/>
        <p:txBody>
          <a:bodyPr/>
          <a:lstStyle/>
          <a:p>
            <a:r>
              <a:rPr lang="en-US" dirty="0"/>
              <a:t>Topic Model Terms: </a:t>
            </a:r>
            <a:r>
              <a:rPr lang="en-US" dirty="0" err="1"/>
              <a:t>BigML</a:t>
            </a:r>
            <a:r>
              <a:rPr lang="en-US" dirty="0"/>
              <a:t> topic model provides options to exclude non dictionary words, exclude non-language characters, exclude HTML keywords like &lt;include&gt;, exclude numbers. Apart from all these, we can also exclude a particular topic.</a:t>
            </a:r>
          </a:p>
          <a:p>
            <a:endParaRPr lang="en-US" dirty="0"/>
          </a:p>
          <a:p>
            <a:endParaRPr lang="en-US" dirty="0"/>
          </a:p>
        </p:txBody>
      </p:sp>
      <p:sp>
        <p:nvSpPr>
          <p:cNvPr id="4" name="Footer Placeholder 3">
            <a:extLst>
              <a:ext uri="{FF2B5EF4-FFF2-40B4-BE49-F238E27FC236}">
                <a16:creationId xmlns:a16="http://schemas.microsoft.com/office/drawing/2014/main" id="{F48C74DA-426C-4257-A8B0-CAC833C3B598}"/>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35709210-85CC-4DD6-8921-FD630B4EAFBB}"/>
              </a:ext>
            </a:extLst>
          </p:cNvPr>
          <p:cNvPicPr>
            <a:picLocks noChangeAspect="1"/>
          </p:cNvPicPr>
          <p:nvPr/>
        </p:nvPicPr>
        <p:blipFill>
          <a:blip r:embed="rId2"/>
          <a:stretch>
            <a:fillRect/>
          </a:stretch>
        </p:blipFill>
        <p:spPr>
          <a:xfrm>
            <a:off x="829647" y="4495845"/>
            <a:ext cx="7637106" cy="1109132"/>
          </a:xfrm>
          <a:prstGeom prst="rect">
            <a:avLst/>
          </a:prstGeom>
        </p:spPr>
      </p:pic>
    </p:spTree>
    <p:extLst>
      <p:ext uri="{BB962C8B-B14F-4D97-AF65-F5344CB8AC3E}">
        <p14:creationId xmlns:p14="http://schemas.microsoft.com/office/powerpoint/2010/main" val="3026084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F8D90-1748-4F47-8E0F-5CFAC9D46CA3}"/>
              </a:ext>
            </a:extLst>
          </p:cNvPr>
          <p:cNvSpPr>
            <a:spLocks noGrp="1"/>
          </p:cNvSpPr>
          <p:nvPr>
            <p:ph type="title"/>
          </p:nvPr>
        </p:nvSpPr>
        <p:spPr/>
        <p:txBody>
          <a:bodyPr/>
          <a:lstStyle/>
          <a:p>
            <a:r>
              <a:rPr lang="en-US" dirty="0"/>
              <a:t>Creating Topic Model:</a:t>
            </a:r>
          </a:p>
        </p:txBody>
      </p:sp>
      <p:sp>
        <p:nvSpPr>
          <p:cNvPr id="3" name="Content Placeholder 2">
            <a:extLst>
              <a:ext uri="{FF2B5EF4-FFF2-40B4-BE49-F238E27FC236}">
                <a16:creationId xmlns:a16="http://schemas.microsoft.com/office/drawing/2014/main" id="{5CCA0022-2E17-452E-9473-B7525BCBA32C}"/>
              </a:ext>
            </a:extLst>
          </p:cNvPr>
          <p:cNvSpPr>
            <a:spLocks noGrp="1"/>
          </p:cNvSpPr>
          <p:nvPr>
            <p:ph idx="1"/>
          </p:nvPr>
        </p:nvSpPr>
        <p:spPr/>
        <p:txBody>
          <a:bodyPr/>
          <a:lstStyle/>
          <a:p>
            <a:r>
              <a:rPr lang="en-US" dirty="0"/>
              <a:t>Specifications:</a:t>
            </a:r>
          </a:p>
          <a:p>
            <a:pPr lvl="1"/>
            <a:r>
              <a:rPr lang="en-US" dirty="0"/>
              <a:t>Number of Topics – 15</a:t>
            </a:r>
          </a:p>
          <a:p>
            <a:pPr lvl="1"/>
            <a:r>
              <a:rPr lang="en-US" dirty="0"/>
              <a:t>Terms per Topic – 20</a:t>
            </a:r>
          </a:p>
          <a:p>
            <a:pPr lvl="1"/>
            <a:r>
              <a:rPr lang="en-US" dirty="0"/>
              <a:t>Stemming – True</a:t>
            </a:r>
          </a:p>
          <a:p>
            <a:pPr lvl="1"/>
            <a:r>
              <a:rPr lang="en-US" dirty="0"/>
              <a:t>Filter – Exclude non dictionary words</a:t>
            </a:r>
          </a:p>
          <a:p>
            <a:pPr marL="457200" lvl="1" indent="0">
              <a:buNone/>
            </a:pPr>
            <a:r>
              <a:rPr lang="en-US" dirty="0"/>
              <a:t>                 Exclude Non-language characters</a:t>
            </a:r>
          </a:p>
          <a:p>
            <a:pPr marL="457200" lvl="1" indent="0">
              <a:buNone/>
            </a:pPr>
            <a:r>
              <a:rPr lang="en-US" dirty="0"/>
              <a:t>                 Exclude HTML</a:t>
            </a:r>
          </a:p>
          <a:p>
            <a:pPr marL="457200" lvl="1" indent="0">
              <a:buNone/>
            </a:pPr>
            <a:r>
              <a:rPr lang="en-US" dirty="0"/>
              <a:t>	           Exclude Numbers</a:t>
            </a:r>
          </a:p>
          <a:p>
            <a:pPr lvl="1"/>
            <a:r>
              <a:rPr lang="en-US" dirty="0"/>
              <a:t>Everything else – Default</a:t>
            </a:r>
          </a:p>
          <a:p>
            <a:pPr lvl="1"/>
            <a:r>
              <a:rPr lang="en-US" dirty="0"/>
              <a:t>Click on Create Model</a:t>
            </a:r>
          </a:p>
          <a:p>
            <a:endParaRPr lang="en-US" dirty="0"/>
          </a:p>
        </p:txBody>
      </p:sp>
      <p:sp>
        <p:nvSpPr>
          <p:cNvPr id="4" name="Footer Placeholder 3">
            <a:extLst>
              <a:ext uri="{FF2B5EF4-FFF2-40B4-BE49-F238E27FC236}">
                <a16:creationId xmlns:a16="http://schemas.microsoft.com/office/drawing/2014/main" id="{3462D4DC-D926-47A5-832F-14AD814F24A8}"/>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2785229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C6989-E8B8-4E02-BED5-7D33077D675C}"/>
              </a:ext>
            </a:extLst>
          </p:cNvPr>
          <p:cNvSpPr>
            <a:spLocks noGrp="1"/>
          </p:cNvSpPr>
          <p:nvPr>
            <p:ph type="title"/>
          </p:nvPr>
        </p:nvSpPr>
        <p:spPr/>
        <p:txBody>
          <a:bodyPr/>
          <a:lstStyle/>
          <a:p>
            <a:r>
              <a:rPr lang="en-US" dirty="0"/>
              <a:t>Result of Topic Modeling</a:t>
            </a:r>
          </a:p>
        </p:txBody>
      </p:sp>
      <p:sp>
        <p:nvSpPr>
          <p:cNvPr id="4" name="Footer Placeholder 3">
            <a:extLst>
              <a:ext uri="{FF2B5EF4-FFF2-40B4-BE49-F238E27FC236}">
                <a16:creationId xmlns:a16="http://schemas.microsoft.com/office/drawing/2014/main" id="{1EEA3EBC-B1AE-4992-B985-19B5EBB8008F}"/>
              </a:ext>
            </a:extLst>
          </p:cNvPr>
          <p:cNvSpPr>
            <a:spLocks noGrp="1"/>
          </p:cNvSpPr>
          <p:nvPr>
            <p:ph type="ftr" sz="quarter" idx="10"/>
          </p:nvPr>
        </p:nvSpPr>
        <p:spPr/>
        <p:txBody>
          <a:bodyPr/>
          <a:lstStyle/>
          <a:p>
            <a:pPr>
              <a:defRPr/>
            </a:pPr>
            <a:r>
              <a:rPr lang="en-US" dirty="0">
                <a:solidFill>
                  <a:srgbClr val="000000"/>
                </a:solidFill>
              </a:rPr>
              <a:t> </a:t>
            </a:r>
          </a:p>
        </p:txBody>
      </p:sp>
      <p:pic>
        <p:nvPicPr>
          <p:cNvPr id="5" name="Content Placeholder 7">
            <a:extLst>
              <a:ext uri="{FF2B5EF4-FFF2-40B4-BE49-F238E27FC236}">
                <a16:creationId xmlns:a16="http://schemas.microsoft.com/office/drawing/2014/main" id="{2995C935-E5E2-43A9-8372-963E6A69C7CD}"/>
              </a:ext>
            </a:extLst>
          </p:cNvPr>
          <p:cNvPicPr>
            <a:picLocks noGrp="1" noChangeAspect="1"/>
          </p:cNvPicPr>
          <p:nvPr>
            <p:ph idx="1"/>
          </p:nvPr>
        </p:nvPicPr>
        <p:blipFill rotWithShape="1">
          <a:blip r:embed="rId2"/>
          <a:srcRect l="27016" t="17585" r="28110" b="15870"/>
          <a:stretch/>
        </p:blipFill>
        <p:spPr>
          <a:xfrm>
            <a:off x="1643143" y="1235075"/>
            <a:ext cx="6010113" cy="5013325"/>
          </a:xfrm>
          <a:prstGeom prst="rect">
            <a:avLst/>
          </a:prstGeom>
        </p:spPr>
      </p:pic>
    </p:spTree>
    <p:extLst>
      <p:ext uri="{BB962C8B-B14F-4D97-AF65-F5344CB8AC3E}">
        <p14:creationId xmlns:p14="http://schemas.microsoft.com/office/powerpoint/2010/main" val="2111185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36F55-07B8-4F30-8A89-ADAAD3C22DFE}"/>
              </a:ext>
            </a:extLst>
          </p:cNvPr>
          <p:cNvSpPr>
            <a:spLocks noGrp="1"/>
          </p:cNvSpPr>
          <p:nvPr>
            <p:ph type="title"/>
          </p:nvPr>
        </p:nvSpPr>
        <p:spPr/>
        <p:txBody>
          <a:bodyPr/>
          <a:lstStyle/>
          <a:p>
            <a:r>
              <a:rPr lang="en-US" dirty="0"/>
              <a:t>Analyzing the Topic Model – Topic Map</a:t>
            </a:r>
          </a:p>
        </p:txBody>
      </p:sp>
      <p:sp>
        <p:nvSpPr>
          <p:cNvPr id="3" name="Content Placeholder 2">
            <a:extLst>
              <a:ext uri="{FF2B5EF4-FFF2-40B4-BE49-F238E27FC236}">
                <a16:creationId xmlns:a16="http://schemas.microsoft.com/office/drawing/2014/main" id="{CB571024-1E2A-4C33-BFC8-38401F50147C}"/>
              </a:ext>
            </a:extLst>
          </p:cNvPr>
          <p:cNvSpPr>
            <a:spLocks noGrp="1"/>
          </p:cNvSpPr>
          <p:nvPr>
            <p:ph idx="1"/>
          </p:nvPr>
        </p:nvSpPr>
        <p:spPr/>
        <p:txBody>
          <a:bodyPr/>
          <a:lstStyle/>
          <a:p>
            <a:r>
              <a:rPr lang="en-US" sz="2400" dirty="0"/>
              <a:t>This image shows topic as a map view, where you can get a sense of both the topic </a:t>
            </a:r>
            <a:r>
              <a:rPr lang="en-US" sz="2400" dirty="0" err="1"/>
              <a:t>importances</a:t>
            </a:r>
            <a:r>
              <a:rPr lang="en-US" sz="2400" dirty="0"/>
              <a:t> and the relationship between them. Each circle represents a different topic, and its size depicts the “Topic probability” — this is the average probability of the topic to appear in a given instance of the original dataset. The distance between the circles represents how close or far topics are thematically speaking.</a:t>
            </a:r>
          </a:p>
          <a:p>
            <a:r>
              <a:rPr lang="en-US" sz="2400" dirty="0"/>
              <a:t>By </a:t>
            </a:r>
            <a:r>
              <a:rPr lang="en-US" sz="2400" dirty="0" err="1"/>
              <a:t>mousing</a:t>
            </a:r>
            <a:r>
              <a:rPr lang="en-US" sz="2400" dirty="0"/>
              <a:t> over each topic you can see the top most important terms for that topic.</a:t>
            </a:r>
          </a:p>
          <a:p>
            <a:r>
              <a:rPr lang="en-US" sz="2400" dirty="0"/>
              <a:t>The terms are ordered by their importance within each topic as measured by the “Term probability”. All term probabilities for a given topic should sum up to 100%.</a:t>
            </a:r>
          </a:p>
          <a:p>
            <a:endParaRPr lang="en-US" sz="2400" dirty="0"/>
          </a:p>
        </p:txBody>
      </p:sp>
      <p:sp>
        <p:nvSpPr>
          <p:cNvPr id="4" name="Footer Placeholder 3">
            <a:extLst>
              <a:ext uri="{FF2B5EF4-FFF2-40B4-BE49-F238E27FC236}">
                <a16:creationId xmlns:a16="http://schemas.microsoft.com/office/drawing/2014/main" id="{4E0DB4AD-316E-42E2-9AA3-994953862319}"/>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3303195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0EDA-6ACC-46F3-BF98-78B715718C09}"/>
              </a:ext>
            </a:extLst>
          </p:cNvPr>
          <p:cNvSpPr>
            <a:spLocks noGrp="1"/>
          </p:cNvSpPr>
          <p:nvPr>
            <p:ph type="title"/>
          </p:nvPr>
        </p:nvSpPr>
        <p:spPr>
          <a:xfrm>
            <a:off x="1035844" y="78070"/>
            <a:ext cx="6858000" cy="914400"/>
          </a:xfrm>
        </p:spPr>
        <p:txBody>
          <a:bodyPr wrap="square" anchor="ctr">
            <a:normAutofit/>
          </a:bodyPr>
          <a:lstStyle/>
          <a:p>
            <a:r>
              <a:rPr lang="en-US" dirty="0"/>
              <a:t>Analyzing Topic Model – Topic Map</a:t>
            </a:r>
          </a:p>
        </p:txBody>
      </p:sp>
      <p:sp>
        <p:nvSpPr>
          <p:cNvPr id="3" name="Content Placeholder 2">
            <a:extLst>
              <a:ext uri="{FF2B5EF4-FFF2-40B4-BE49-F238E27FC236}">
                <a16:creationId xmlns:a16="http://schemas.microsoft.com/office/drawing/2014/main" id="{9610CDDF-2EE3-4B40-B0DC-B7081C3E77D8}"/>
              </a:ext>
            </a:extLst>
          </p:cNvPr>
          <p:cNvSpPr>
            <a:spLocks noGrp="1"/>
          </p:cNvSpPr>
          <p:nvPr>
            <p:ph sz="half" idx="1"/>
          </p:nvPr>
        </p:nvSpPr>
        <p:spPr>
          <a:xfrm>
            <a:off x="685800" y="1524000"/>
            <a:ext cx="3810000" cy="4572000"/>
          </a:xfrm>
        </p:spPr>
        <p:txBody>
          <a:bodyPr wrap="square" anchor="t">
            <a:normAutofit/>
          </a:bodyPr>
          <a:lstStyle/>
          <a:p>
            <a:pPr marL="285750" indent="-285750">
              <a:lnSpc>
                <a:spcPct val="90000"/>
              </a:lnSpc>
              <a:buFont typeface="Arial" panose="020B0604020202020204" pitchFamily="34" charset="0"/>
              <a:buChar char="•"/>
            </a:pPr>
            <a:r>
              <a:rPr lang="en-US" sz="2400"/>
              <a:t>If you mouse over each term within a topic, you will find all the </a:t>
            </a:r>
            <a:r>
              <a:rPr lang="en-US" sz="2400" b="1"/>
              <a:t>stemmed forms</a:t>
            </a:r>
            <a:r>
              <a:rPr lang="en-US" sz="2400"/>
              <a:t> for that term. </a:t>
            </a:r>
          </a:p>
          <a:p>
            <a:pPr>
              <a:lnSpc>
                <a:spcPct val="90000"/>
              </a:lnSpc>
            </a:pPr>
            <a:endParaRPr lang="en-US" sz="2400"/>
          </a:p>
          <a:p>
            <a:pPr marL="285750" indent="-285750">
              <a:lnSpc>
                <a:spcPct val="90000"/>
              </a:lnSpc>
              <a:buFont typeface="Arial" panose="020B0604020202020204" pitchFamily="34" charset="0"/>
              <a:buChar char="•"/>
            </a:pPr>
            <a:r>
              <a:rPr lang="en-US" sz="2400"/>
              <a:t>Stemming is the process of taking just the lexeme for the terms so e.g. the terms “nation”, “nation’s” and “nationalism”, are considered the same term, since they all have the same lexeme: “nation”.</a:t>
            </a:r>
          </a:p>
          <a:p>
            <a:pPr marL="285750" indent="-285750">
              <a:lnSpc>
                <a:spcPct val="90000"/>
              </a:lnSpc>
              <a:buFont typeface="Arial" panose="020B0604020202020204" pitchFamily="34" charset="0"/>
              <a:buChar char="•"/>
            </a:pPr>
            <a:endParaRPr lang="en-US" sz="2400"/>
          </a:p>
          <a:p>
            <a:pPr>
              <a:lnSpc>
                <a:spcPct val="90000"/>
              </a:lnSpc>
            </a:pPr>
            <a:endParaRPr lang="en-US" sz="2400"/>
          </a:p>
          <a:p>
            <a:pPr>
              <a:lnSpc>
                <a:spcPct val="90000"/>
              </a:lnSpc>
            </a:pPr>
            <a:endParaRPr lang="en-US" sz="2400"/>
          </a:p>
        </p:txBody>
      </p:sp>
      <p:pic>
        <p:nvPicPr>
          <p:cNvPr id="5" name="Content Placeholder 3">
            <a:extLst>
              <a:ext uri="{FF2B5EF4-FFF2-40B4-BE49-F238E27FC236}">
                <a16:creationId xmlns:a16="http://schemas.microsoft.com/office/drawing/2014/main" id="{651AC792-C0EC-4AA2-B66A-7010C86F300B}"/>
              </a:ext>
            </a:extLst>
          </p:cNvPr>
          <p:cNvPicPr>
            <a:picLocks noChangeAspect="1"/>
          </p:cNvPicPr>
          <p:nvPr/>
        </p:nvPicPr>
        <p:blipFill rotWithShape="1">
          <a:blip r:embed="rId2"/>
          <a:srcRect l="32969" t="29899" r="52585" b="22218"/>
          <a:stretch/>
        </p:blipFill>
        <p:spPr bwMode="auto">
          <a:xfrm>
            <a:off x="5327118" y="1524000"/>
            <a:ext cx="2452164" cy="457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4447128C-64DA-41B3-B7DE-9E74AE6BADE2}"/>
              </a:ext>
            </a:extLst>
          </p:cNvPr>
          <p:cNvSpPr>
            <a:spLocks noGrp="1"/>
          </p:cNvSpPr>
          <p:nvPr>
            <p:ph type="ftr" sz="quarter" idx="10"/>
          </p:nvPr>
        </p:nvSpPr>
        <p:spPr>
          <a:xfrm>
            <a:off x="3124200" y="6477000"/>
            <a:ext cx="2895600" cy="457200"/>
          </a:xfrm>
        </p:spPr>
        <p:txBody>
          <a:bodyPr wrap="square" anchor="t">
            <a:normAutofit/>
          </a:bodyPr>
          <a:lstStyle/>
          <a:p>
            <a:pPr>
              <a:spcAft>
                <a:spcPts val="600"/>
              </a:spcAft>
              <a:defRPr/>
            </a:pPr>
            <a:r>
              <a:rPr lang="en-US" dirty="0">
                <a:solidFill>
                  <a:srgbClr val="000000"/>
                </a:solidFill>
              </a:rPr>
              <a:t> </a:t>
            </a:r>
          </a:p>
        </p:txBody>
      </p:sp>
      <p:sp>
        <p:nvSpPr>
          <p:cNvPr id="10" name="Slide Number Placeholder 5">
            <a:extLst>
              <a:ext uri="{FF2B5EF4-FFF2-40B4-BE49-F238E27FC236}">
                <a16:creationId xmlns:a16="http://schemas.microsoft.com/office/drawing/2014/main" id="{D8CF67DC-A2A8-47B2-A683-7805CCA187CF}"/>
              </a:ext>
            </a:extLst>
          </p:cNvPr>
          <p:cNvSpPr>
            <a:spLocks noGrp="1"/>
          </p:cNvSpPr>
          <p:nvPr>
            <p:ph type="sldNum" sz="quarter" idx="11"/>
          </p:nvPr>
        </p:nvSpPr>
        <p:spPr>
          <a:xfrm>
            <a:off x="7239000" y="6400799"/>
            <a:ext cx="1905000" cy="457200"/>
          </a:xfrm>
        </p:spPr>
        <p:txBody>
          <a:bodyPr/>
          <a:lstStyle/>
          <a:p>
            <a:pPr>
              <a:spcAft>
                <a:spcPts val="600"/>
              </a:spcAft>
              <a:defRPr/>
            </a:pPr>
            <a:fld id="{69C53DFD-5AB4-42B8-8E98-B1225630AE0E}" type="slidenum">
              <a:rPr lang="en-US" altLang="en-US">
                <a:solidFill>
                  <a:srgbClr val="000000"/>
                </a:solidFill>
              </a:rPr>
              <a:pPr>
                <a:spcAft>
                  <a:spcPts val="600"/>
                </a:spcAft>
                <a:defRPr/>
              </a:pPr>
              <a:t>25</a:t>
            </a:fld>
            <a:endParaRPr lang="en-US" altLang="en-US">
              <a:solidFill>
                <a:srgbClr val="000000"/>
              </a:solidFill>
            </a:endParaRPr>
          </a:p>
        </p:txBody>
      </p:sp>
    </p:spTree>
    <p:extLst>
      <p:ext uri="{BB962C8B-B14F-4D97-AF65-F5344CB8AC3E}">
        <p14:creationId xmlns:p14="http://schemas.microsoft.com/office/powerpoint/2010/main" val="397507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3DA24-839D-461E-AFC5-A5B27B7D561C}"/>
              </a:ext>
            </a:extLst>
          </p:cNvPr>
          <p:cNvSpPr>
            <a:spLocks noGrp="1"/>
          </p:cNvSpPr>
          <p:nvPr>
            <p:ph type="title"/>
          </p:nvPr>
        </p:nvSpPr>
        <p:spPr/>
        <p:txBody>
          <a:bodyPr/>
          <a:lstStyle/>
          <a:p>
            <a:r>
              <a:rPr lang="en-US" dirty="0"/>
              <a:t>Analyzing Topic Model – Topic Map</a:t>
            </a:r>
          </a:p>
        </p:txBody>
      </p:sp>
      <p:sp>
        <p:nvSpPr>
          <p:cNvPr id="3" name="Content Placeholder 2">
            <a:extLst>
              <a:ext uri="{FF2B5EF4-FFF2-40B4-BE49-F238E27FC236}">
                <a16:creationId xmlns:a16="http://schemas.microsoft.com/office/drawing/2014/main" id="{1093E228-C519-4CA1-8639-52C473EB96FB}"/>
              </a:ext>
            </a:extLst>
          </p:cNvPr>
          <p:cNvSpPr>
            <a:spLocks noGrp="1"/>
          </p:cNvSpPr>
          <p:nvPr>
            <p:ph idx="1"/>
          </p:nvPr>
        </p:nvSpPr>
        <p:spPr/>
        <p:txBody>
          <a:bodyPr/>
          <a:lstStyle/>
          <a:p>
            <a:r>
              <a:rPr lang="en-US" sz="2000" dirty="0"/>
              <a:t>Filtering options:</a:t>
            </a:r>
          </a:p>
          <a:p>
            <a:pPr lvl="1"/>
            <a:r>
              <a:rPr lang="en-US" sz="2000" b="1" dirty="0"/>
              <a:t>Topic probability </a:t>
            </a:r>
            <a:r>
              <a:rPr lang="en-US" sz="2000" dirty="0"/>
              <a:t>slider to filter the topic circles by size (importance) i.e., the average probability of a topic in a given instance in the original dataset used to create the model.</a:t>
            </a:r>
          </a:p>
          <a:p>
            <a:pPr lvl="1"/>
            <a:r>
              <a:rPr lang="en-US" sz="2000" b="1" dirty="0"/>
              <a:t>Search box</a:t>
            </a:r>
            <a:r>
              <a:rPr lang="en-US" sz="2000" dirty="0"/>
              <a:t> to filter topics and terms.</a:t>
            </a:r>
          </a:p>
          <a:p>
            <a:pPr lvl="1"/>
            <a:r>
              <a:rPr lang="en-US" sz="2000" b="1" dirty="0"/>
              <a:t>Include/exclude labels</a:t>
            </a:r>
            <a:r>
              <a:rPr lang="en-US" sz="2000" dirty="0"/>
              <a:t> for topics.</a:t>
            </a:r>
          </a:p>
          <a:p>
            <a:pPr lvl="1"/>
            <a:r>
              <a:rPr lang="en-US" sz="2000" b="1" dirty="0"/>
              <a:t>Reset</a:t>
            </a:r>
            <a:r>
              <a:rPr lang="en-US" sz="2000" dirty="0"/>
              <a:t> filters option.</a:t>
            </a:r>
          </a:p>
          <a:p>
            <a:r>
              <a:rPr lang="en-US" sz="2000" dirty="0"/>
              <a:t>Export options:</a:t>
            </a:r>
          </a:p>
          <a:p>
            <a:pPr lvl="1"/>
            <a:r>
              <a:rPr lang="en-US" sz="2000" b="1" dirty="0"/>
              <a:t>Export map in PNG</a:t>
            </a:r>
            <a:r>
              <a:rPr lang="en-US" sz="2000" dirty="0"/>
              <a:t> format.</a:t>
            </a:r>
          </a:p>
          <a:p>
            <a:pPr lvl="1"/>
            <a:r>
              <a:rPr lang="en-US" sz="2000" b="1" dirty="0"/>
              <a:t>Export model in CSV</a:t>
            </a:r>
            <a:r>
              <a:rPr lang="en-US" sz="2000" dirty="0"/>
              <a:t> format.</a:t>
            </a:r>
          </a:p>
          <a:p>
            <a:r>
              <a:rPr lang="en-US" sz="2000" b="1" dirty="0"/>
              <a:t>Edit topic names</a:t>
            </a:r>
            <a:r>
              <a:rPr lang="en-US" sz="2000" dirty="0"/>
              <a:t> by clicking in a Topic circle, and you can change its name by using the edit icon. This is very useful to interpret the main theme of each topic, when you make predictions afterwards.</a:t>
            </a:r>
          </a:p>
          <a:p>
            <a:r>
              <a:rPr lang="en-US" sz="2000" b="1" dirty="0"/>
              <a:t>Tag cloud</a:t>
            </a:r>
            <a:r>
              <a:rPr lang="en-US" sz="2000" dirty="0"/>
              <a:t> to see the terms composing a topic in a tag cloud.</a:t>
            </a:r>
          </a:p>
          <a:p>
            <a:pPr marL="0" indent="0">
              <a:buNone/>
            </a:pPr>
            <a:endParaRPr lang="en-US" sz="2000" dirty="0"/>
          </a:p>
          <a:p>
            <a:endParaRPr lang="en-US" sz="2000" dirty="0"/>
          </a:p>
        </p:txBody>
      </p:sp>
      <p:sp>
        <p:nvSpPr>
          <p:cNvPr id="4" name="Footer Placeholder 3">
            <a:extLst>
              <a:ext uri="{FF2B5EF4-FFF2-40B4-BE49-F238E27FC236}">
                <a16:creationId xmlns:a16="http://schemas.microsoft.com/office/drawing/2014/main" id="{B5CCEBBC-4E27-402D-A802-94FC98AC0694}"/>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9D3DF341-9F13-4431-A41A-41DE4C28913D}"/>
              </a:ext>
            </a:extLst>
          </p:cNvPr>
          <p:cNvPicPr>
            <a:picLocks noChangeAspect="1"/>
          </p:cNvPicPr>
          <p:nvPr/>
        </p:nvPicPr>
        <p:blipFill>
          <a:blip r:embed="rId2"/>
          <a:stretch>
            <a:fillRect/>
          </a:stretch>
        </p:blipFill>
        <p:spPr>
          <a:xfrm>
            <a:off x="5196025" y="3114182"/>
            <a:ext cx="3719375" cy="1564268"/>
          </a:xfrm>
          <a:prstGeom prst="rect">
            <a:avLst/>
          </a:prstGeom>
        </p:spPr>
      </p:pic>
    </p:spTree>
    <p:extLst>
      <p:ext uri="{BB962C8B-B14F-4D97-AF65-F5344CB8AC3E}">
        <p14:creationId xmlns:p14="http://schemas.microsoft.com/office/powerpoint/2010/main" val="2794773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F805-069C-4170-BA81-79ACD1E8B68D}"/>
              </a:ext>
            </a:extLst>
          </p:cNvPr>
          <p:cNvSpPr>
            <a:spLocks noGrp="1"/>
          </p:cNvSpPr>
          <p:nvPr>
            <p:ph type="title"/>
          </p:nvPr>
        </p:nvSpPr>
        <p:spPr>
          <a:xfrm>
            <a:off x="990600" y="304800"/>
            <a:ext cx="6858000" cy="914400"/>
          </a:xfrm>
        </p:spPr>
        <p:txBody>
          <a:bodyPr wrap="square" anchor="ctr">
            <a:normAutofit/>
          </a:bodyPr>
          <a:lstStyle/>
          <a:p>
            <a:r>
              <a:rPr lang="en-US" dirty="0"/>
              <a:t>Analyzing Topic Model – Term Chart</a:t>
            </a:r>
          </a:p>
        </p:txBody>
      </p:sp>
      <p:sp>
        <p:nvSpPr>
          <p:cNvPr id="3" name="Content Placeholder 2">
            <a:extLst>
              <a:ext uri="{FF2B5EF4-FFF2-40B4-BE49-F238E27FC236}">
                <a16:creationId xmlns:a16="http://schemas.microsoft.com/office/drawing/2014/main" id="{69E37449-7D14-4B93-AE3A-A76189E3A2C8}"/>
              </a:ext>
            </a:extLst>
          </p:cNvPr>
          <p:cNvSpPr>
            <a:spLocks noGrp="1"/>
          </p:cNvSpPr>
          <p:nvPr>
            <p:ph type="body" sz="half" idx="1"/>
          </p:nvPr>
        </p:nvSpPr>
        <p:spPr>
          <a:xfrm>
            <a:off x="685800" y="1524000"/>
            <a:ext cx="3810000" cy="4572000"/>
          </a:xfrm>
        </p:spPr>
        <p:txBody>
          <a:bodyPr wrap="square" anchor="t">
            <a:normAutofit/>
          </a:bodyPr>
          <a:lstStyle/>
          <a:p>
            <a:pPr>
              <a:lnSpc>
                <a:spcPct val="90000"/>
              </a:lnSpc>
            </a:pPr>
            <a:r>
              <a:rPr lang="en-US" sz="2600"/>
              <a:t>This view shows the topics and their terms in a </a:t>
            </a:r>
            <a:r>
              <a:rPr lang="en-US" sz="2600" b="1"/>
              <a:t>bar chart</a:t>
            </a:r>
            <a:r>
              <a:rPr lang="en-US" sz="2600"/>
              <a:t> to give you a quick </a:t>
            </a:r>
            <a:r>
              <a:rPr lang="en-US" sz="2600" b="1"/>
              <a:t>overview of the terms composing the topics</a:t>
            </a:r>
            <a:r>
              <a:rPr lang="en-US" sz="2600"/>
              <a:t> as well as their importance. </a:t>
            </a:r>
          </a:p>
          <a:p>
            <a:pPr>
              <a:lnSpc>
                <a:spcPct val="90000"/>
              </a:lnSpc>
            </a:pPr>
            <a:r>
              <a:rPr lang="en-US" sz="2600"/>
              <a:t>In the horizontal axis, you can see each term probability for each of the top terms of a given topic</a:t>
            </a:r>
          </a:p>
          <a:p>
            <a:pPr>
              <a:lnSpc>
                <a:spcPct val="90000"/>
              </a:lnSpc>
            </a:pPr>
            <a:endParaRPr lang="en-US" sz="2600"/>
          </a:p>
        </p:txBody>
      </p:sp>
      <p:pic>
        <p:nvPicPr>
          <p:cNvPr id="5" name="Picture 4" descr="A screenshot of a cell phone&#10;&#10;Description automatically generated">
            <a:extLst>
              <a:ext uri="{FF2B5EF4-FFF2-40B4-BE49-F238E27FC236}">
                <a16:creationId xmlns:a16="http://schemas.microsoft.com/office/drawing/2014/main" id="{F8C56444-8970-40AB-89A8-82DF2FB6C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3868" y="1916905"/>
            <a:ext cx="5829464" cy="3395663"/>
          </a:xfrm>
          <a:prstGeom prst="rect">
            <a:avLst/>
          </a:prstGeom>
          <a:noFill/>
        </p:spPr>
      </p:pic>
      <p:sp>
        <p:nvSpPr>
          <p:cNvPr id="4" name="Footer Placeholder 3">
            <a:extLst>
              <a:ext uri="{FF2B5EF4-FFF2-40B4-BE49-F238E27FC236}">
                <a16:creationId xmlns:a16="http://schemas.microsoft.com/office/drawing/2014/main" id="{D8182B54-B1C9-4D90-827B-AF5E13F91A5C}"/>
              </a:ext>
            </a:extLst>
          </p:cNvPr>
          <p:cNvSpPr>
            <a:spLocks noGrp="1"/>
          </p:cNvSpPr>
          <p:nvPr>
            <p:ph type="ftr" sz="quarter" idx="11"/>
          </p:nvPr>
        </p:nvSpPr>
        <p:spPr>
          <a:xfrm>
            <a:off x="3124200" y="6477000"/>
            <a:ext cx="2895600" cy="457200"/>
          </a:xfrm>
        </p:spPr>
        <p:txBody>
          <a:bodyPr wrap="square" anchor="t">
            <a:normAutofit/>
          </a:bodyPr>
          <a:lstStyle/>
          <a:p>
            <a:pPr>
              <a:spcAft>
                <a:spcPts val="600"/>
              </a:spcAft>
              <a:defRPr/>
            </a:pPr>
            <a:r>
              <a:rPr lang="en-US" dirty="0">
                <a:solidFill>
                  <a:srgbClr val="000000"/>
                </a:solidFill>
              </a:rPr>
              <a:t> </a:t>
            </a:r>
          </a:p>
        </p:txBody>
      </p:sp>
      <p:sp>
        <p:nvSpPr>
          <p:cNvPr id="10" name="Slide Number Placeholder 5">
            <a:extLst>
              <a:ext uri="{FF2B5EF4-FFF2-40B4-BE49-F238E27FC236}">
                <a16:creationId xmlns:a16="http://schemas.microsoft.com/office/drawing/2014/main" id="{D7F60EE4-6DCC-439D-A054-2FFA9D9B6068}"/>
              </a:ext>
            </a:extLst>
          </p:cNvPr>
          <p:cNvSpPr>
            <a:spLocks noGrp="1"/>
          </p:cNvSpPr>
          <p:nvPr>
            <p:ph type="sldNum" sz="quarter" idx="12"/>
          </p:nvPr>
        </p:nvSpPr>
        <p:spPr>
          <a:xfrm>
            <a:off x="7239000" y="6400799"/>
            <a:ext cx="1905000" cy="457200"/>
          </a:xfrm>
        </p:spPr>
        <p:txBody>
          <a:bodyPr/>
          <a:lstStyle/>
          <a:p>
            <a:pPr>
              <a:spcAft>
                <a:spcPts val="600"/>
              </a:spcAft>
              <a:defRPr/>
            </a:pPr>
            <a:fld id="{2A620667-3E2E-4318-968F-BD6A03CE7BFC}" type="slidenum">
              <a:rPr lang="en-US" altLang="en-US">
                <a:solidFill>
                  <a:srgbClr val="000000"/>
                </a:solidFill>
              </a:rPr>
              <a:pPr>
                <a:spcAft>
                  <a:spcPts val="600"/>
                </a:spcAft>
                <a:defRPr/>
              </a:pPr>
              <a:t>27</a:t>
            </a:fld>
            <a:endParaRPr lang="en-US" altLang="en-US">
              <a:solidFill>
                <a:srgbClr val="000000"/>
              </a:solidFill>
            </a:endParaRPr>
          </a:p>
        </p:txBody>
      </p:sp>
    </p:spTree>
    <p:extLst>
      <p:ext uri="{BB962C8B-B14F-4D97-AF65-F5344CB8AC3E}">
        <p14:creationId xmlns:p14="http://schemas.microsoft.com/office/powerpoint/2010/main" val="244819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2BC3-940D-45D5-91EC-1A389A9BE302}"/>
              </a:ext>
            </a:extLst>
          </p:cNvPr>
          <p:cNvSpPr>
            <a:spLocks noGrp="1"/>
          </p:cNvSpPr>
          <p:nvPr>
            <p:ph type="title"/>
          </p:nvPr>
        </p:nvSpPr>
        <p:spPr/>
        <p:txBody>
          <a:bodyPr/>
          <a:lstStyle/>
          <a:p>
            <a:r>
              <a:rPr lang="en-US" dirty="0"/>
              <a:t>Analyzing Topic Model – Term Chart</a:t>
            </a:r>
          </a:p>
        </p:txBody>
      </p:sp>
      <p:sp>
        <p:nvSpPr>
          <p:cNvPr id="3" name="Content Placeholder 2">
            <a:extLst>
              <a:ext uri="{FF2B5EF4-FFF2-40B4-BE49-F238E27FC236}">
                <a16:creationId xmlns:a16="http://schemas.microsoft.com/office/drawing/2014/main" id="{3DD92CA0-FAE0-4503-9A02-2398A2E98F1A}"/>
              </a:ext>
            </a:extLst>
          </p:cNvPr>
          <p:cNvSpPr>
            <a:spLocks noGrp="1"/>
          </p:cNvSpPr>
          <p:nvPr>
            <p:ph idx="1"/>
          </p:nvPr>
        </p:nvSpPr>
        <p:spPr/>
        <p:txBody>
          <a:bodyPr/>
          <a:lstStyle/>
          <a:p>
            <a:pPr marL="0" indent="0">
              <a:buNone/>
            </a:pPr>
            <a:r>
              <a:rPr lang="en-US" sz="2200" dirty="0"/>
              <a:t>The chart has the following options found in the top menu:</a:t>
            </a:r>
          </a:p>
          <a:p>
            <a:r>
              <a:rPr lang="en-US" sz="2200" dirty="0"/>
              <a:t>Filtering options:</a:t>
            </a:r>
          </a:p>
          <a:p>
            <a:pPr lvl="1"/>
            <a:r>
              <a:rPr lang="en-US" sz="2200" b="1" dirty="0"/>
              <a:t>Term probability</a:t>
            </a:r>
            <a:r>
              <a:rPr lang="en-US" sz="2200" dirty="0"/>
              <a:t> slider to filter terms by their probability in a given topic.</a:t>
            </a:r>
          </a:p>
          <a:p>
            <a:pPr lvl="1"/>
            <a:r>
              <a:rPr lang="en-US" sz="2200" b="1" dirty="0"/>
              <a:t>Search box</a:t>
            </a:r>
            <a:r>
              <a:rPr lang="en-US" sz="2200" dirty="0"/>
              <a:t> to filter topics and terms.</a:t>
            </a:r>
          </a:p>
          <a:p>
            <a:pPr lvl="1"/>
            <a:r>
              <a:rPr lang="en-US" sz="2200" b="1" dirty="0"/>
              <a:t>Number of terms</a:t>
            </a:r>
            <a:r>
              <a:rPr lang="en-US" sz="2200" dirty="0"/>
              <a:t> to select the maximum terms shown per topic in the chart.</a:t>
            </a:r>
          </a:p>
          <a:p>
            <a:pPr lvl="1"/>
            <a:r>
              <a:rPr lang="en-US" sz="2200" b="1" dirty="0"/>
              <a:t>Dynamic axis</a:t>
            </a:r>
            <a:r>
              <a:rPr lang="en-US" sz="2200" dirty="0"/>
              <a:t> option to adjust the axis scale to the current filters.</a:t>
            </a:r>
          </a:p>
          <a:p>
            <a:pPr lvl="1"/>
            <a:r>
              <a:rPr lang="en-US" sz="2200" b="1" dirty="0"/>
              <a:t>Reset</a:t>
            </a:r>
            <a:r>
              <a:rPr lang="en-US" sz="2200" dirty="0"/>
              <a:t> filters option.</a:t>
            </a:r>
          </a:p>
          <a:p>
            <a:r>
              <a:rPr lang="en-US" sz="2200" dirty="0"/>
              <a:t>Export options:</a:t>
            </a:r>
          </a:p>
          <a:p>
            <a:pPr lvl="1"/>
            <a:r>
              <a:rPr lang="en-US" sz="2200" b="1" dirty="0"/>
              <a:t>Export chart in PNG</a:t>
            </a:r>
            <a:r>
              <a:rPr lang="en-US" sz="2200" dirty="0"/>
              <a:t> format (with or without legends).</a:t>
            </a:r>
          </a:p>
          <a:p>
            <a:pPr lvl="1"/>
            <a:r>
              <a:rPr lang="en-US" sz="2200" b="1" dirty="0"/>
              <a:t>Export model in CSV</a:t>
            </a:r>
            <a:r>
              <a:rPr lang="en-US" sz="2200" dirty="0"/>
              <a:t> format.</a:t>
            </a:r>
          </a:p>
          <a:p>
            <a:endParaRPr lang="en-US" sz="2200" dirty="0"/>
          </a:p>
          <a:p>
            <a:endParaRPr lang="en-US" sz="2200" dirty="0"/>
          </a:p>
        </p:txBody>
      </p:sp>
      <p:sp>
        <p:nvSpPr>
          <p:cNvPr id="4" name="Footer Placeholder 3">
            <a:extLst>
              <a:ext uri="{FF2B5EF4-FFF2-40B4-BE49-F238E27FC236}">
                <a16:creationId xmlns:a16="http://schemas.microsoft.com/office/drawing/2014/main" id="{46D24FB4-69EF-440A-BF5C-8F8C8519C571}"/>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3567991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127E-8057-4803-857D-8A833155D065}"/>
              </a:ext>
            </a:extLst>
          </p:cNvPr>
          <p:cNvSpPr>
            <a:spLocks noGrp="1"/>
          </p:cNvSpPr>
          <p:nvPr>
            <p:ph type="title"/>
          </p:nvPr>
        </p:nvSpPr>
        <p:spPr/>
        <p:txBody>
          <a:bodyPr/>
          <a:lstStyle/>
          <a:p>
            <a:r>
              <a:rPr lang="en-US" dirty="0"/>
              <a:t>Making Predictions</a:t>
            </a:r>
          </a:p>
        </p:txBody>
      </p:sp>
      <p:sp>
        <p:nvSpPr>
          <p:cNvPr id="3" name="Content Placeholder 2">
            <a:extLst>
              <a:ext uri="{FF2B5EF4-FFF2-40B4-BE49-F238E27FC236}">
                <a16:creationId xmlns:a16="http://schemas.microsoft.com/office/drawing/2014/main" id="{47128148-0FDA-4ACF-8C80-3933A74877A0}"/>
              </a:ext>
            </a:extLst>
          </p:cNvPr>
          <p:cNvSpPr>
            <a:spLocks noGrp="1"/>
          </p:cNvSpPr>
          <p:nvPr>
            <p:ph idx="1"/>
          </p:nvPr>
        </p:nvSpPr>
        <p:spPr/>
        <p:txBody>
          <a:bodyPr/>
          <a:lstStyle/>
          <a:p>
            <a:r>
              <a:rPr lang="en-US" dirty="0"/>
              <a:t>The objective of Topic Modeling is to find the relevant topic for the dataset of instances.</a:t>
            </a:r>
          </a:p>
          <a:p>
            <a:endParaRPr lang="en-US" dirty="0"/>
          </a:p>
          <a:p>
            <a:r>
              <a:rPr lang="en-US" dirty="0" err="1"/>
              <a:t>BigML</a:t>
            </a:r>
            <a:r>
              <a:rPr lang="en-US" dirty="0"/>
              <a:t> also allows you to make predictions for a single instance, Topic Distribution, or for several instances simultaneously, Batch Topic Distribution.</a:t>
            </a:r>
          </a:p>
          <a:p>
            <a:endParaRPr lang="en-US" dirty="0"/>
          </a:p>
        </p:txBody>
      </p:sp>
      <p:sp>
        <p:nvSpPr>
          <p:cNvPr id="4" name="Footer Placeholder 3">
            <a:extLst>
              <a:ext uri="{FF2B5EF4-FFF2-40B4-BE49-F238E27FC236}">
                <a16:creationId xmlns:a16="http://schemas.microsoft.com/office/drawing/2014/main" id="{D7FB85B9-D47F-4AE5-95F8-AD3B6397415F}"/>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126019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3A53B-1CB3-4B56-9B88-B9988F971FF5}"/>
              </a:ext>
            </a:extLst>
          </p:cNvPr>
          <p:cNvSpPr>
            <a:spLocks noGrp="1"/>
          </p:cNvSpPr>
          <p:nvPr>
            <p:ph type="title"/>
          </p:nvPr>
        </p:nvSpPr>
        <p:spPr/>
        <p:txBody>
          <a:bodyPr/>
          <a:lstStyle/>
          <a:p>
            <a:r>
              <a:rPr lang="en-US" dirty="0"/>
              <a:t>Topic Distribution:</a:t>
            </a:r>
          </a:p>
        </p:txBody>
      </p:sp>
      <p:sp>
        <p:nvSpPr>
          <p:cNvPr id="3" name="Content Placeholder 2">
            <a:extLst>
              <a:ext uri="{FF2B5EF4-FFF2-40B4-BE49-F238E27FC236}">
                <a16:creationId xmlns:a16="http://schemas.microsoft.com/office/drawing/2014/main" id="{8DDA300C-CFA2-4A3A-804E-AA98819F7DD1}"/>
              </a:ext>
            </a:extLst>
          </p:cNvPr>
          <p:cNvSpPr>
            <a:spLocks noGrp="1"/>
          </p:cNvSpPr>
          <p:nvPr>
            <p:ph idx="1"/>
          </p:nvPr>
        </p:nvSpPr>
        <p:spPr/>
        <p:txBody>
          <a:bodyPr/>
          <a:lstStyle/>
          <a:p>
            <a:r>
              <a:rPr lang="en-US" dirty="0"/>
              <a:t>To get one single prediction for an input text, click the </a:t>
            </a:r>
            <a:r>
              <a:rPr lang="en-US" b="1" dirty="0"/>
              <a:t>Topic Distribution </a:t>
            </a:r>
            <a:r>
              <a:rPr lang="en-US" dirty="0"/>
              <a:t>option as shown in the image below.</a:t>
            </a:r>
          </a:p>
          <a:p>
            <a:endParaRPr lang="en-US" dirty="0"/>
          </a:p>
        </p:txBody>
      </p:sp>
      <p:sp>
        <p:nvSpPr>
          <p:cNvPr id="4" name="Footer Placeholder 3">
            <a:extLst>
              <a:ext uri="{FF2B5EF4-FFF2-40B4-BE49-F238E27FC236}">
                <a16:creationId xmlns:a16="http://schemas.microsoft.com/office/drawing/2014/main" id="{720D7E5C-03D1-4E05-8A20-9A85F935BCCC}"/>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B923F9DA-EFEE-4968-B4B6-F8285DA459DF}"/>
              </a:ext>
            </a:extLst>
          </p:cNvPr>
          <p:cNvPicPr>
            <a:picLocks noChangeAspect="1"/>
          </p:cNvPicPr>
          <p:nvPr/>
        </p:nvPicPr>
        <p:blipFill>
          <a:blip r:embed="rId2"/>
          <a:stretch>
            <a:fillRect/>
          </a:stretch>
        </p:blipFill>
        <p:spPr>
          <a:xfrm>
            <a:off x="914400" y="3124200"/>
            <a:ext cx="7315200" cy="2000250"/>
          </a:xfrm>
          <a:prstGeom prst="rect">
            <a:avLst/>
          </a:prstGeom>
        </p:spPr>
      </p:pic>
    </p:spTree>
    <p:extLst>
      <p:ext uri="{BB962C8B-B14F-4D97-AF65-F5344CB8AC3E}">
        <p14:creationId xmlns:p14="http://schemas.microsoft.com/office/powerpoint/2010/main" val="139690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0D8F8-4DCA-46AB-9423-DDB1DD1E990D}"/>
              </a:ext>
            </a:extLst>
          </p:cNvPr>
          <p:cNvSpPr>
            <a:spLocks noGrp="1"/>
          </p:cNvSpPr>
          <p:nvPr>
            <p:ph type="title"/>
          </p:nvPr>
        </p:nvSpPr>
        <p:spPr>
          <a:xfrm>
            <a:off x="990600" y="304800"/>
            <a:ext cx="6858000" cy="914400"/>
          </a:xfrm>
        </p:spPr>
        <p:txBody>
          <a:bodyPr wrap="square" anchor="ctr">
            <a:normAutofit/>
          </a:bodyPr>
          <a:lstStyle/>
          <a:p>
            <a:r>
              <a:rPr lang="en-US" dirty="0"/>
              <a:t>Topic Distribution</a:t>
            </a:r>
          </a:p>
        </p:txBody>
      </p:sp>
      <p:sp>
        <p:nvSpPr>
          <p:cNvPr id="3" name="Content Placeholder 2">
            <a:extLst>
              <a:ext uri="{FF2B5EF4-FFF2-40B4-BE49-F238E27FC236}">
                <a16:creationId xmlns:a16="http://schemas.microsoft.com/office/drawing/2014/main" id="{64490EDC-2BA5-42AE-BDCA-8BCB0DCC4E01}"/>
              </a:ext>
            </a:extLst>
          </p:cNvPr>
          <p:cNvSpPr>
            <a:spLocks noGrp="1"/>
          </p:cNvSpPr>
          <p:nvPr>
            <p:ph type="body" sz="half" idx="1"/>
          </p:nvPr>
        </p:nvSpPr>
        <p:spPr>
          <a:xfrm>
            <a:off x="685800" y="1524000"/>
            <a:ext cx="3810000" cy="4572000"/>
          </a:xfrm>
        </p:spPr>
        <p:txBody>
          <a:bodyPr wrap="square" anchor="t">
            <a:normAutofit/>
          </a:bodyPr>
          <a:lstStyle/>
          <a:p>
            <a:pPr>
              <a:lnSpc>
                <a:spcPct val="90000"/>
              </a:lnSpc>
            </a:pPr>
            <a:r>
              <a:rPr lang="en-US" sz="2000"/>
              <a:t>You will get a form containing the </a:t>
            </a:r>
            <a:r>
              <a:rPr lang="en-US" sz="2000" b="1"/>
              <a:t>input fields</a:t>
            </a:r>
            <a:r>
              <a:rPr lang="en-US" sz="2000"/>
              <a:t> used to create the Topic Model. Include any text in the corresponding input field boxes.</a:t>
            </a:r>
          </a:p>
          <a:p>
            <a:pPr>
              <a:lnSpc>
                <a:spcPct val="90000"/>
              </a:lnSpc>
            </a:pPr>
            <a:r>
              <a:rPr lang="en-US" sz="2000"/>
              <a:t> </a:t>
            </a:r>
            <a:r>
              <a:rPr lang="en-US" sz="2000" err="1"/>
              <a:t>BigML</a:t>
            </a:r>
            <a:r>
              <a:rPr lang="en-US" sz="2000"/>
              <a:t> automatically computes each </a:t>
            </a:r>
            <a:r>
              <a:rPr lang="en-US" sz="2000" b="1"/>
              <a:t>topic probability</a:t>
            </a:r>
            <a:r>
              <a:rPr lang="en-US" sz="2000"/>
              <a:t> for that input text. </a:t>
            </a:r>
          </a:p>
          <a:p>
            <a:pPr>
              <a:lnSpc>
                <a:spcPct val="90000"/>
              </a:lnSpc>
            </a:pPr>
            <a:r>
              <a:rPr lang="en-US" sz="2000"/>
              <a:t>You can see topic probabilities in a histogram like the one shown in the image below. </a:t>
            </a:r>
          </a:p>
          <a:p>
            <a:pPr>
              <a:lnSpc>
                <a:spcPct val="90000"/>
              </a:lnSpc>
            </a:pPr>
            <a:r>
              <a:rPr lang="en-US" sz="2000"/>
              <a:t>You can also see the </a:t>
            </a:r>
            <a:r>
              <a:rPr lang="en-US" sz="2000" b="1"/>
              <a:t>terms within each topic</a:t>
            </a:r>
            <a:r>
              <a:rPr lang="en-US" sz="2000"/>
              <a:t> by </a:t>
            </a:r>
            <a:r>
              <a:rPr lang="en-US" sz="2000" err="1"/>
              <a:t>mousing</a:t>
            </a:r>
            <a:r>
              <a:rPr lang="en-US" sz="2000"/>
              <a:t> over each topic.</a:t>
            </a:r>
          </a:p>
          <a:p>
            <a:pPr>
              <a:lnSpc>
                <a:spcPct val="90000"/>
              </a:lnSpc>
            </a:pPr>
            <a:endParaRPr lang="en-US" sz="2000"/>
          </a:p>
        </p:txBody>
      </p:sp>
      <p:pic>
        <p:nvPicPr>
          <p:cNvPr id="6" name="Content Placeholder 3">
            <a:extLst>
              <a:ext uri="{FF2B5EF4-FFF2-40B4-BE49-F238E27FC236}">
                <a16:creationId xmlns:a16="http://schemas.microsoft.com/office/drawing/2014/main" id="{CF19C4EA-5EE1-4F34-8321-82D0AB561492}"/>
              </a:ext>
            </a:extLst>
          </p:cNvPr>
          <p:cNvPicPr>
            <a:picLocks noChangeAspect="1"/>
          </p:cNvPicPr>
          <p:nvPr/>
        </p:nvPicPr>
        <p:blipFill>
          <a:blip r:embed="rId2"/>
          <a:stretch>
            <a:fillRect/>
          </a:stretch>
        </p:blipFill>
        <p:spPr bwMode="auto">
          <a:xfrm>
            <a:off x="4648200" y="2462213"/>
            <a:ext cx="3810000" cy="26955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046FDC90-DA3E-4349-80EE-423B888A324C}"/>
              </a:ext>
            </a:extLst>
          </p:cNvPr>
          <p:cNvSpPr>
            <a:spLocks noGrp="1"/>
          </p:cNvSpPr>
          <p:nvPr>
            <p:ph type="ftr" sz="quarter" idx="11"/>
          </p:nvPr>
        </p:nvSpPr>
        <p:spPr>
          <a:xfrm>
            <a:off x="3124200" y="6477000"/>
            <a:ext cx="2895600" cy="457200"/>
          </a:xfrm>
        </p:spPr>
        <p:txBody>
          <a:bodyPr wrap="square" anchor="t">
            <a:normAutofit/>
          </a:bodyPr>
          <a:lstStyle/>
          <a:p>
            <a:pPr>
              <a:spcAft>
                <a:spcPts val="600"/>
              </a:spcAft>
              <a:defRPr/>
            </a:pPr>
            <a:r>
              <a:rPr lang="en-US" dirty="0">
                <a:solidFill>
                  <a:srgbClr val="000000"/>
                </a:solidFill>
              </a:rPr>
              <a:t> </a:t>
            </a:r>
          </a:p>
        </p:txBody>
      </p:sp>
      <p:sp>
        <p:nvSpPr>
          <p:cNvPr id="13" name="Slide Number Placeholder 5">
            <a:extLst>
              <a:ext uri="{FF2B5EF4-FFF2-40B4-BE49-F238E27FC236}">
                <a16:creationId xmlns:a16="http://schemas.microsoft.com/office/drawing/2014/main" id="{AC873097-617F-47AC-96AB-7E777102DE26}"/>
              </a:ext>
            </a:extLst>
          </p:cNvPr>
          <p:cNvSpPr>
            <a:spLocks noGrp="1"/>
          </p:cNvSpPr>
          <p:nvPr>
            <p:ph type="sldNum" sz="quarter" idx="12"/>
          </p:nvPr>
        </p:nvSpPr>
        <p:spPr>
          <a:xfrm>
            <a:off x="7239000" y="6400799"/>
            <a:ext cx="1905000" cy="457200"/>
          </a:xfrm>
        </p:spPr>
        <p:txBody>
          <a:bodyPr/>
          <a:lstStyle/>
          <a:p>
            <a:pPr>
              <a:spcAft>
                <a:spcPts val="600"/>
              </a:spcAft>
              <a:defRPr/>
            </a:pPr>
            <a:fld id="{2A620667-3E2E-4318-968F-BD6A03CE7BFC}" type="slidenum">
              <a:rPr lang="en-US" altLang="en-US">
                <a:solidFill>
                  <a:srgbClr val="000000"/>
                </a:solidFill>
              </a:rPr>
              <a:pPr>
                <a:spcAft>
                  <a:spcPts val="600"/>
                </a:spcAft>
                <a:defRPr/>
              </a:pPr>
              <a:t>31</a:t>
            </a:fld>
            <a:endParaRPr lang="en-US" altLang="en-US">
              <a:solidFill>
                <a:srgbClr val="000000"/>
              </a:solidFill>
            </a:endParaRPr>
          </a:p>
        </p:txBody>
      </p:sp>
    </p:spTree>
    <p:extLst>
      <p:ext uri="{BB962C8B-B14F-4D97-AF65-F5344CB8AC3E}">
        <p14:creationId xmlns:p14="http://schemas.microsoft.com/office/powerpoint/2010/main" val="2103940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5C47D-B344-43EF-A652-07254A27E1A4}"/>
              </a:ext>
            </a:extLst>
          </p:cNvPr>
          <p:cNvSpPr>
            <a:spLocks noGrp="1"/>
          </p:cNvSpPr>
          <p:nvPr>
            <p:ph type="title"/>
          </p:nvPr>
        </p:nvSpPr>
        <p:spPr/>
        <p:txBody>
          <a:bodyPr/>
          <a:lstStyle/>
          <a:p>
            <a:r>
              <a:rPr lang="en-US" dirty="0"/>
              <a:t>IMDB Movie Sentiment Analysis:</a:t>
            </a:r>
          </a:p>
        </p:txBody>
      </p:sp>
      <p:sp>
        <p:nvSpPr>
          <p:cNvPr id="3" name="Content Placeholder 2">
            <a:extLst>
              <a:ext uri="{FF2B5EF4-FFF2-40B4-BE49-F238E27FC236}">
                <a16:creationId xmlns:a16="http://schemas.microsoft.com/office/drawing/2014/main" id="{924EA187-E2FC-4E59-A157-F86335901A17}"/>
              </a:ext>
            </a:extLst>
          </p:cNvPr>
          <p:cNvSpPr>
            <a:spLocks noGrp="1"/>
          </p:cNvSpPr>
          <p:nvPr>
            <p:ph idx="1"/>
          </p:nvPr>
        </p:nvSpPr>
        <p:spPr/>
        <p:txBody>
          <a:bodyPr/>
          <a:lstStyle/>
          <a:p>
            <a:r>
              <a:rPr lang="en-US" sz="2200" dirty="0"/>
              <a:t>As we now have an idea about how topic modeling in </a:t>
            </a:r>
            <a:r>
              <a:rPr lang="en-US" sz="2200" dirty="0" err="1"/>
              <a:t>BigML</a:t>
            </a:r>
            <a:r>
              <a:rPr lang="en-US" sz="2200" dirty="0"/>
              <a:t> works, we will extend it to Sentiment analysis using </a:t>
            </a:r>
            <a:r>
              <a:rPr lang="en-US" sz="2200" dirty="0" err="1"/>
              <a:t>BigML</a:t>
            </a:r>
            <a:r>
              <a:rPr lang="en-US" sz="2200" dirty="0"/>
              <a:t>.</a:t>
            </a:r>
          </a:p>
          <a:p>
            <a:r>
              <a:rPr lang="en-US" sz="2200" dirty="0"/>
              <a:t>We are using movie reviews extracted from the IMBD database to predict if a given review has a positive or a negative sentiment.</a:t>
            </a:r>
          </a:p>
          <a:p>
            <a:r>
              <a:rPr lang="en-US" sz="2200" dirty="0"/>
              <a:t>Data source: </a:t>
            </a:r>
            <a:r>
              <a:rPr lang="en-US" sz="2200" dirty="0">
                <a:solidFill>
                  <a:schemeClr val="accent2"/>
                </a:solidFill>
                <a:hlinkClick r:id="rId2">
                  <a:extLst>
                    <a:ext uri="{A12FA001-AC4F-418D-AE19-62706E023703}">
                      <ahyp:hlinkClr xmlns:ahyp="http://schemas.microsoft.com/office/drawing/2018/hyperlinkcolor" val="tx"/>
                    </a:ext>
                  </a:extLst>
                </a:hlinkClick>
              </a:rPr>
              <a:t>https://www.kaggle.com/lakshmi25npathi/imdb-dataset-of-50k-movie-reviews</a:t>
            </a:r>
            <a:endParaRPr lang="en-US" sz="2200" dirty="0">
              <a:solidFill>
                <a:schemeClr val="accent2"/>
              </a:solidFill>
            </a:endParaRPr>
          </a:p>
          <a:p>
            <a:r>
              <a:rPr lang="en-US" sz="2200" dirty="0"/>
              <a:t>We loaded the data ‘IMDB Dataset.csv’ and created the dataset.</a:t>
            </a:r>
          </a:p>
          <a:p>
            <a:endParaRPr lang="en-US" sz="2200" dirty="0"/>
          </a:p>
          <a:p>
            <a:pPr marL="0" indent="0">
              <a:buNone/>
            </a:pPr>
            <a:r>
              <a:rPr lang="en-US" sz="2200" dirty="0"/>
              <a:t>Data Features:</a:t>
            </a:r>
          </a:p>
          <a:p>
            <a:r>
              <a:rPr lang="en-US" sz="2200" dirty="0"/>
              <a:t>It has two features, REVIEW and SENTIMENT.</a:t>
            </a:r>
          </a:p>
          <a:p>
            <a:r>
              <a:rPr lang="en-US" sz="2200" dirty="0"/>
              <a:t>REVIEW is the text data.</a:t>
            </a:r>
          </a:p>
          <a:p>
            <a:r>
              <a:rPr lang="en-US" sz="2200" dirty="0"/>
              <a:t>Sentiment is a label defining if the review was positive or negative.</a:t>
            </a:r>
          </a:p>
          <a:p>
            <a:endParaRPr lang="en-US" sz="2200" dirty="0"/>
          </a:p>
        </p:txBody>
      </p:sp>
      <p:sp>
        <p:nvSpPr>
          <p:cNvPr id="4" name="Footer Placeholder 3">
            <a:extLst>
              <a:ext uri="{FF2B5EF4-FFF2-40B4-BE49-F238E27FC236}">
                <a16:creationId xmlns:a16="http://schemas.microsoft.com/office/drawing/2014/main" id="{7859F576-2C69-4F5C-807D-D1640DE3A5F3}"/>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4012645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0F59F-A576-4338-B71B-DC96205218C4}"/>
              </a:ext>
            </a:extLst>
          </p:cNvPr>
          <p:cNvSpPr>
            <a:spLocks noGrp="1"/>
          </p:cNvSpPr>
          <p:nvPr>
            <p:ph type="title"/>
          </p:nvPr>
        </p:nvSpPr>
        <p:spPr/>
        <p:txBody>
          <a:bodyPr/>
          <a:lstStyle/>
          <a:p>
            <a:r>
              <a:rPr lang="en-US" dirty="0"/>
              <a:t>Creating a decision tree</a:t>
            </a:r>
          </a:p>
        </p:txBody>
      </p:sp>
      <p:sp>
        <p:nvSpPr>
          <p:cNvPr id="3" name="Content Placeholder 2">
            <a:extLst>
              <a:ext uri="{FF2B5EF4-FFF2-40B4-BE49-F238E27FC236}">
                <a16:creationId xmlns:a16="http://schemas.microsoft.com/office/drawing/2014/main" id="{E917C928-B25D-481C-B104-AAC505CC6C08}"/>
              </a:ext>
            </a:extLst>
          </p:cNvPr>
          <p:cNvSpPr>
            <a:spLocks noGrp="1"/>
          </p:cNvSpPr>
          <p:nvPr>
            <p:ph idx="1"/>
          </p:nvPr>
        </p:nvSpPr>
        <p:spPr/>
        <p:txBody>
          <a:bodyPr/>
          <a:lstStyle/>
          <a:p>
            <a:r>
              <a:rPr lang="en-US" dirty="0"/>
              <a:t>To get a first sense of whether the text in the reviews have any power to predict the sentiment, we are going to build a single decision tree by selecting the “sentiment” as the objective field and using the reviews as input.</a:t>
            </a:r>
          </a:p>
          <a:p>
            <a:pPr marL="0" indent="0">
              <a:buNone/>
            </a:pPr>
            <a:endParaRPr lang="en-US" dirty="0"/>
          </a:p>
          <a:p>
            <a:r>
              <a:rPr lang="en-US" dirty="0"/>
              <a:t>If we perform a 1-click model, we obtain the decision tree in a few seconds. As you mouse over the root node and go down the tree until you reach the leaf nodes, you can see the different prediction paths. </a:t>
            </a:r>
          </a:p>
          <a:p>
            <a:endParaRPr lang="en-US" dirty="0"/>
          </a:p>
        </p:txBody>
      </p:sp>
      <p:sp>
        <p:nvSpPr>
          <p:cNvPr id="4" name="Footer Placeholder 3">
            <a:extLst>
              <a:ext uri="{FF2B5EF4-FFF2-40B4-BE49-F238E27FC236}">
                <a16:creationId xmlns:a16="http://schemas.microsoft.com/office/drawing/2014/main" id="{27781C57-2BEF-416E-8C46-F792422B3D35}"/>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F854C591-8EA7-4704-A4D3-E178E7C2C77E}"/>
              </a:ext>
            </a:extLst>
          </p:cNvPr>
          <p:cNvPicPr>
            <a:picLocks noChangeAspect="1"/>
          </p:cNvPicPr>
          <p:nvPr/>
        </p:nvPicPr>
        <p:blipFill>
          <a:blip r:embed="rId2"/>
          <a:stretch>
            <a:fillRect/>
          </a:stretch>
        </p:blipFill>
        <p:spPr>
          <a:xfrm>
            <a:off x="2438400" y="3429000"/>
            <a:ext cx="5467350" cy="714375"/>
          </a:xfrm>
          <a:prstGeom prst="rect">
            <a:avLst/>
          </a:prstGeom>
        </p:spPr>
      </p:pic>
    </p:spTree>
    <p:extLst>
      <p:ext uri="{BB962C8B-B14F-4D97-AF65-F5344CB8AC3E}">
        <p14:creationId xmlns:p14="http://schemas.microsoft.com/office/powerpoint/2010/main" val="1352161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5E8F-6417-4A41-9DAD-5A97E524AA42}"/>
              </a:ext>
            </a:extLst>
          </p:cNvPr>
          <p:cNvSpPr>
            <a:spLocks noGrp="1"/>
          </p:cNvSpPr>
          <p:nvPr>
            <p:ph type="title"/>
          </p:nvPr>
        </p:nvSpPr>
        <p:spPr>
          <a:xfrm>
            <a:off x="990600" y="304800"/>
            <a:ext cx="6858000" cy="914400"/>
          </a:xfrm>
        </p:spPr>
        <p:txBody>
          <a:bodyPr wrap="square" anchor="ctr">
            <a:normAutofit/>
          </a:bodyPr>
          <a:lstStyle/>
          <a:p>
            <a:r>
              <a:rPr lang="en-US" dirty="0"/>
              <a:t>Example decision tree:</a:t>
            </a:r>
          </a:p>
        </p:txBody>
      </p:sp>
      <p:sp>
        <p:nvSpPr>
          <p:cNvPr id="3" name="Content Placeholder 2">
            <a:extLst>
              <a:ext uri="{FF2B5EF4-FFF2-40B4-BE49-F238E27FC236}">
                <a16:creationId xmlns:a16="http://schemas.microsoft.com/office/drawing/2014/main" id="{7515C83A-A851-47D1-BF8F-C581CA3D452F}"/>
              </a:ext>
            </a:extLst>
          </p:cNvPr>
          <p:cNvSpPr>
            <a:spLocks noGrp="1"/>
          </p:cNvSpPr>
          <p:nvPr>
            <p:ph type="body" sz="half" idx="1"/>
          </p:nvPr>
        </p:nvSpPr>
        <p:spPr>
          <a:xfrm>
            <a:off x="685800" y="1524000"/>
            <a:ext cx="3810000" cy="4572000"/>
          </a:xfrm>
        </p:spPr>
        <p:txBody>
          <a:bodyPr wrap="square" anchor="t">
            <a:normAutofit/>
          </a:bodyPr>
          <a:lstStyle/>
          <a:p>
            <a:pPr>
              <a:lnSpc>
                <a:spcPct val="90000"/>
              </a:lnSpc>
            </a:pPr>
            <a:r>
              <a:rPr lang="en-US" sz="2200" dirty="0"/>
              <a:t>This decision tree shows that if the text has following words, then it is a negative comment with a confidence of 89% which is good.</a:t>
            </a:r>
          </a:p>
          <a:p>
            <a:pPr>
              <a:lnSpc>
                <a:spcPct val="90000"/>
              </a:lnSpc>
            </a:pPr>
            <a:endParaRPr lang="en-US" sz="2200" dirty="0"/>
          </a:p>
          <a:p>
            <a:pPr marL="0" indent="0">
              <a:lnSpc>
                <a:spcPct val="90000"/>
              </a:lnSpc>
              <a:buNone/>
            </a:pPr>
            <a:endParaRPr lang="en-US" sz="2200" dirty="0"/>
          </a:p>
          <a:p>
            <a:pPr>
              <a:lnSpc>
                <a:spcPct val="90000"/>
              </a:lnSpc>
            </a:pPr>
            <a:r>
              <a:rPr lang="en-US" sz="2200" dirty="0"/>
              <a:t>Now we know that this data can be used to perform sentiment analysis. </a:t>
            </a:r>
          </a:p>
          <a:p>
            <a:pPr>
              <a:lnSpc>
                <a:spcPct val="90000"/>
              </a:lnSpc>
            </a:pPr>
            <a:endParaRPr lang="en-US" sz="2200" dirty="0"/>
          </a:p>
          <a:p>
            <a:pPr>
              <a:lnSpc>
                <a:spcPct val="90000"/>
              </a:lnSpc>
            </a:pPr>
            <a:endParaRPr lang="en-US" sz="2200" dirty="0"/>
          </a:p>
        </p:txBody>
      </p:sp>
      <p:pic>
        <p:nvPicPr>
          <p:cNvPr id="5" name="Content Placeholder 3">
            <a:extLst>
              <a:ext uri="{FF2B5EF4-FFF2-40B4-BE49-F238E27FC236}">
                <a16:creationId xmlns:a16="http://schemas.microsoft.com/office/drawing/2014/main" id="{3B78F25E-B6E0-449C-A181-24AB5882F8EC}"/>
              </a:ext>
            </a:extLst>
          </p:cNvPr>
          <p:cNvPicPr>
            <a:picLocks noChangeAspect="1"/>
          </p:cNvPicPr>
          <p:nvPr/>
        </p:nvPicPr>
        <p:blipFill>
          <a:blip r:embed="rId2"/>
          <a:stretch>
            <a:fillRect/>
          </a:stretch>
        </p:blipFill>
        <p:spPr bwMode="auto">
          <a:xfrm>
            <a:off x="4648199" y="1828800"/>
            <a:ext cx="4420809" cy="34813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F1E89A99-DAF1-49FC-B57E-6CD5CAA67F62}"/>
              </a:ext>
            </a:extLst>
          </p:cNvPr>
          <p:cNvSpPr>
            <a:spLocks noGrp="1"/>
          </p:cNvSpPr>
          <p:nvPr>
            <p:ph type="ftr" sz="quarter" idx="11"/>
          </p:nvPr>
        </p:nvSpPr>
        <p:spPr>
          <a:xfrm>
            <a:off x="3124200" y="6477000"/>
            <a:ext cx="2895600" cy="457200"/>
          </a:xfrm>
        </p:spPr>
        <p:txBody>
          <a:bodyPr wrap="square" anchor="t">
            <a:normAutofit/>
          </a:bodyPr>
          <a:lstStyle/>
          <a:p>
            <a:pPr>
              <a:spcAft>
                <a:spcPts val="600"/>
              </a:spcAft>
              <a:defRPr/>
            </a:pPr>
            <a:r>
              <a:rPr lang="en-US" dirty="0">
                <a:solidFill>
                  <a:srgbClr val="000000"/>
                </a:solidFill>
              </a:rPr>
              <a:t> </a:t>
            </a:r>
          </a:p>
        </p:txBody>
      </p:sp>
      <p:sp>
        <p:nvSpPr>
          <p:cNvPr id="10" name="Slide Number Placeholder 5">
            <a:extLst>
              <a:ext uri="{FF2B5EF4-FFF2-40B4-BE49-F238E27FC236}">
                <a16:creationId xmlns:a16="http://schemas.microsoft.com/office/drawing/2014/main" id="{A4E61E1B-D84A-4BDD-9A57-EEC74E105AB7}"/>
              </a:ext>
            </a:extLst>
          </p:cNvPr>
          <p:cNvSpPr>
            <a:spLocks noGrp="1"/>
          </p:cNvSpPr>
          <p:nvPr>
            <p:ph type="sldNum" sz="quarter" idx="12"/>
          </p:nvPr>
        </p:nvSpPr>
        <p:spPr>
          <a:xfrm>
            <a:off x="7239000" y="6400799"/>
            <a:ext cx="1905000" cy="457200"/>
          </a:xfrm>
        </p:spPr>
        <p:txBody>
          <a:bodyPr/>
          <a:lstStyle/>
          <a:p>
            <a:pPr>
              <a:spcAft>
                <a:spcPts val="600"/>
              </a:spcAft>
              <a:defRPr/>
            </a:pPr>
            <a:fld id="{2A620667-3E2E-4318-968F-BD6A03CE7BFC}" type="slidenum">
              <a:rPr lang="en-US" altLang="en-US">
                <a:solidFill>
                  <a:srgbClr val="000000"/>
                </a:solidFill>
              </a:rPr>
              <a:pPr>
                <a:spcAft>
                  <a:spcPts val="600"/>
                </a:spcAft>
                <a:defRPr/>
              </a:pPr>
              <a:t>34</a:t>
            </a:fld>
            <a:endParaRPr lang="en-US" altLang="en-US">
              <a:solidFill>
                <a:srgbClr val="000000"/>
              </a:solidFill>
            </a:endParaRPr>
          </a:p>
        </p:txBody>
      </p:sp>
    </p:spTree>
    <p:extLst>
      <p:ext uri="{BB962C8B-B14F-4D97-AF65-F5344CB8AC3E}">
        <p14:creationId xmlns:p14="http://schemas.microsoft.com/office/powerpoint/2010/main" val="365528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141A-673A-49B5-A065-038855696700}"/>
              </a:ext>
            </a:extLst>
          </p:cNvPr>
          <p:cNvSpPr>
            <a:spLocks noGrp="1"/>
          </p:cNvSpPr>
          <p:nvPr>
            <p:ph type="title"/>
          </p:nvPr>
        </p:nvSpPr>
        <p:spPr/>
        <p:txBody>
          <a:bodyPr/>
          <a:lstStyle/>
          <a:p>
            <a:r>
              <a:rPr lang="en-US" dirty="0"/>
              <a:t>Topic Modeling</a:t>
            </a:r>
          </a:p>
        </p:txBody>
      </p:sp>
      <p:sp>
        <p:nvSpPr>
          <p:cNvPr id="3" name="Content Placeholder 2">
            <a:extLst>
              <a:ext uri="{FF2B5EF4-FFF2-40B4-BE49-F238E27FC236}">
                <a16:creationId xmlns:a16="http://schemas.microsoft.com/office/drawing/2014/main" id="{BB443D02-332D-4428-B62B-A815ECA6820A}"/>
              </a:ext>
            </a:extLst>
          </p:cNvPr>
          <p:cNvSpPr>
            <a:spLocks noGrp="1"/>
          </p:cNvSpPr>
          <p:nvPr>
            <p:ph idx="1"/>
          </p:nvPr>
        </p:nvSpPr>
        <p:spPr/>
        <p:txBody>
          <a:bodyPr/>
          <a:lstStyle/>
          <a:p>
            <a:r>
              <a:rPr lang="en-US" sz="2400" dirty="0"/>
              <a:t>This data has HTML tags, numbers </a:t>
            </a:r>
          </a:p>
          <a:p>
            <a:pPr marL="0" indent="0">
              <a:buNone/>
            </a:pPr>
            <a:r>
              <a:rPr lang="en-US" sz="2400" dirty="0" err="1"/>
              <a:t>etc</a:t>
            </a:r>
            <a:r>
              <a:rPr lang="en-US" sz="2400" dirty="0"/>
              <a:t> which is not useful for topic modeling.</a:t>
            </a:r>
          </a:p>
          <a:p>
            <a:endParaRPr lang="en-US" sz="2400" dirty="0"/>
          </a:p>
          <a:p>
            <a:r>
              <a:rPr lang="en-US" sz="2400" dirty="0"/>
              <a:t>Hence we need to clean the data to perform Topic Modeling.</a:t>
            </a:r>
          </a:p>
          <a:p>
            <a:endParaRPr lang="en-US" sz="2400" dirty="0"/>
          </a:p>
          <a:p>
            <a:r>
              <a:rPr lang="en-US" sz="2400" dirty="0"/>
              <a:t>We will use advanced configuration of topic model to clean the data.</a:t>
            </a:r>
          </a:p>
          <a:p>
            <a:pPr lvl="1"/>
            <a:r>
              <a:rPr lang="en-US" dirty="0"/>
              <a:t>We neglect HTML codes, go to Advanced Configuration</a:t>
            </a:r>
          </a:p>
          <a:p>
            <a:pPr lvl="1"/>
            <a:r>
              <a:rPr lang="en-US" dirty="0"/>
              <a:t>We neglect Numbers</a:t>
            </a:r>
          </a:p>
          <a:p>
            <a:r>
              <a:rPr lang="en-US" sz="2400" dirty="0"/>
              <a:t>Use</a:t>
            </a:r>
            <a:r>
              <a:rPr lang="ko-KR" altLang="en-US" sz="2400" dirty="0"/>
              <a:t> </a:t>
            </a:r>
            <a:r>
              <a:rPr lang="en-US" altLang="ko-KR" sz="2400" dirty="0"/>
              <a:t>arrow</a:t>
            </a:r>
            <a:r>
              <a:rPr lang="ko-KR" altLang="en-US" sz="2400" dirty="0"/>
              <a:t> </a:t>
            </a:r>
            <a:r>
              <a:rPr lang="en-US" altLang="ko-KR" sz="2400" dirty="0"/>
              <a:t>key</a:t>
            </a:r>
            <a:r>
              <a:rPr lang="ko-KR" altLang="en-US" sz="2400" dirty="0"/>
              <a:t> </a:t>
            </a:r>
            <a:r>
              <a:rPr lang="en-US" altLang="ko-KR" sz="2400" dirty="0"/>
              <a:t>to</a:t>
            </a:r>
            <a:r>
              <a:rPr lang="ko-KR" altLang="en-US" sz="2400" dirty="0"/>
              <a:t> </a:t>
            </a:r>
            <a:r>
              <a:rPr lang="en-US" altLang="ko-KR" sz="2400" dirty="0"/>
              <a:t>increase</a:t>
            </a:r>
            <a:r>
              <a:rPr lang="ko-KR" altLang="en-US" sz="2400" dirty="0"/>
              <a:t> </a:t>
            </a:r>
            <a:r>
              <a:rPr lang="en-US" altLang="ko-KR" sz="2400" dirty="0"/>
              <a:t>#topics</a:t>
            </a:r>
            <a:r>
              <a:rPr lang="ko-KR" altLang="en-US" sz="2400" dirty="0"/>
              <a:t> </a:t>
            </a:r>
            <a:r>
              <a:rPr lang="en-US" altLang="ko-KR" sz="2400" dirty="0"/>
              <a:t>manually</a:t>
            </a:r>
            <a:endParaRPr lang="en-US" sz="2400" dirty="0"/>
          </a:p>
          <a:p>
            <a:endParaRPr lang="en-US" sz="2400" dirty="0"/>
          </a:p>
        </p:txBody>
      </p:sp>
      <p:sp>
        <p:nvSpPr>
          <p:cNvPr id="4" name="Footer Placeholder 3">
            <a:extLst>
              <a:ext uri="{FF2B5EF4-FFF2-40B4-BE49-F238E27FC236}">
                <a16:creationId xmlns:a16="http://schemas.microsoft.com/office/drawing/2014/main" id="{2B54B1C2-30D6-4DD0-A8F7-F7BB1DD00A7E}"/>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F7442606-BD2F-4B8B-BAD3-F7A12018F8B7}"/>
              </a:ext>
            </a:extLst>
          </p:cNvPr>
          <p:cNvPicPr>
            <a:picLocks noChangeAspect="1"/>
          </p:cNvPicPr>
          <p:nvPr/>
        </p:nvPicPr>
        <p:blipFill>
          <a:blip r:embed="rId2"/>
          <a:stretch>
            <a:fillRect/>
          </a:stretch>
        </p:blipFill>
        <p:spPr>
          <a:xfrm>
            <a:off x="6930629" y="685800"/>
            <a:ext cx="2902742" cy="1814214"/>
          </a:xfrm>
          <a:prstGeom prst="rect">
            <a:avLst/>
          </a:prstGeom>
        </p:spPr>
      </p:pic>
      <p:pic>
        <p:nvPicPr>
          <p:cNvPr id="6" name="Picture 5">
            <a:extLst>
              <a:ext uri="{FF2B5EF4-FFF2-40B4-BE49-F238E27FC236}">
                <a16:creationId xmlns:a16="http://schemas.microsoft.com/office/drawing/2014/main" id="{8A6C6766-9635-42EB-9F69-E25E494862B0}"/>
              </a:ext>
            </a:extLst>
          </p:cNvPr>
          <p:cNvPicPr>
            <a:picLocks noChangeAspect="1"/>
          </p:cNvPicPr>
          <p:nvPr/>
        </p:nvPicPr>
        <p:blipFill>
          <a:blip r:embed="rId3"/>
          <a:stretch>
            <a:fillRect/>
          </a:stretch>
        </p:blipFill>
        <p:spPr>
          <a:xfrm>
            <a:off x="5457825" y="4991100"/>
            <a:ext cx="3295650" cy="495300"/>
          </a:xfrm>
          <a:prstGeom prst="rect">
            <a:avLst/>
          </a:prstGeom>
        </p:spPr>
      </p:pic>
      <p:pic>
        <p:nvPicPr>
          <p:cNvPr id="7" name="Picture 6">
            <a:extLst>
              <a:ext uri="{FF2B5EF4-FFF2-40B4-BE49-F238E27FC236}">
                <a16:creationId xmlns:a16="http://schemas.microsoft.com/office/drawing/2014/main" id="{D3B65F69-9B7E-46FF-A4A3-B1944BDC5108}"/>
              </a:ext>
            </a:extLst>
          </p:cNvPr>
          <p:cNvPicPr>
            <a:picLocks noChangeAspect="1"/>
          </p:cNvPicPr>
          <p:nvPr/>
        </p:nvPicPr>
        <p:blipFill>
          <a:blip r:embed="rId4"/>
          <a:stretch>
            <a:fillRect/>
          </a:stretch>
        </p:blipFill>
        <p:spPr>
          <a:xfrm>
            <a:off x="5562600" y="5600700"/>
            <a:ext cx="3086100" cy="1104900"/>
          </a:xfrm>
          <a:prstGeom prst="rect">
            <a:avLst/>
          </a:prstGeom>
        </p:spPr>
      </p:pic>
    </p:spTree>
    <p:extLst>
      <p:ext uri="{BB962C8B-B14F-4D97-AF65-F5344CB8AC3E}">
        <p14:creationId xmlns:p14="http://schemas.microsoft.com/office/powerpoint/2010/main" val="853192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45A8-39C2-462D-BBD7-6C7A8E038E40}"/>
              </a:ext>
            </a:extLst>
          </p:cNvPr>
          <p:cNvSpPr>
            <a:spLocks noGrp="1"/>
          </p:cNvSpPr>
          <p:nvPr>
            <p:ph type="title"/>
          </p:nvPr>
        </p:nvSpPr>
        <p:spPr>
          <a:xfrm>
            <a:off x="990600" y="168294"/>
            <a:ext cx="7924800" cy="1066800"/>
          </a:xfrm>
        </p:spPr>
        <p:txBody>
          <a:bodyPr/>
          <a:lstStyle/>
          <a:p>
            <a:r>
              <a:rPr lang="en-US" dirty="0"/>
              <a:t>Topic Modeling</a:t>
            </a:r>
          </a:p>
        </p:txBody>
      </p:sp>
      <p:sp>
        <p:nvSpPr>
          <p:cNvPr id="3" name="Content Placeholder 2">
            <a:extLst>
              <a:ext uri="{FF2B5EF4-FFF2-40B4-BE49-F238E27FC236}">
                <a16:creationId xmlns:a16="http://schemas.microsoft.com/office/drawing/2014/main" id="{B2E12007-8BFE-4AB9-9C58-6EF3A31E901B}"/>
              </a:ext>
            </a:extLst>
          </p:cNvPr>
          <p:cNvSpPr>
            <a:spLocks noGrp="1"/>
          </p:cNvSpPr>
          <p:nvPr>
            <p:ph idx="1"/>
          </p:nvPr>
        </p:nvSpPr>
        <p:spPr/>
        <p:txBody>
          <a:bodyPr/>
          <a:lstStyle/>
          <a:p>
            <a:r>
              <a:rPr lang="en-US" sz="2400" dirty="0"/>
              <a:t>In the first view, you will be able to see at-a-glance all the topics represented by circles sized in proportion to the topic </a:t>
            </a:r>
            <a:r>
              <a:rPr lang="en-US" sz="2400" dirty="0" err="1"/>
              <a:t>importances</a:t>
            </a:r>
            <a:r>
              <a:rPr lang="en-US" sz="2400" dirty="0"/>
              <a:t>. Furthermore, the topics are displayed in a map layout, which depicts the relationship between them such that closer topics are more thematically related.</a:t>
            </a:r>
          </a:p>
          <a:p>
            <a:endParaRPr lang="en-US" sz="2400" dirty="0"/>
          </a:p>
          <a:p>
            <a:r>
              <a:rPr lang="en-US" sz="2400" dirty="0"/>
              <a:t>We will now look into                the bar chart. Each term is represented by a bar whose length signifies the importance of the term within that topic</a:t>
            </a:r>
          </a:p>
          <a:p>
            <a:endParaRPr lang="en-US" sz="2400" dirty="0"/>
          </a:p>
          <a:p>
            <a:r>
              <a:rPr lang="en-US" sz="2400" dirty="0"/>
              <a:t>We see that Topics like Bad, life, funny help us to determine the type of the movie.</a:t>
            </a:r>
          </a:p>
          <a:p>
            <a:r>
              <a:rPr lang="en-US" sz="2400" dirty="0"/>
              <a:t>You can rename the topic name with pencil icon </a:t>
            </a:r>
          </a:p>
          <a:p>
            <a:endParaRPr lang="en-US" sz="2400" dirty="0"/>
          </a:p>
          <a:p>
            <a:pPr marL="0" indent="0">
              <a:buNone/>
            </a:pPr>
            <a:r>
              <a:rPr lang="en-US" sz="2400" dirty="0"/>
              <a:t> </a:t>
            </a:r>
          </a:p>
          <a:p>
            <a:endParaRPr lang="en-US" sz="2400" dirty="0"/>
          </a:p>
        </p:txBody>
      </p:sp>
      <p:sp>
        <p:nvSpPr>
          <p:cNvPr id="4" name="Footer Placeholder 3">
            <a:extLst>
              <a:ext uri="{FF2B5EF4-FFF2-40B4-BE49-F238E27FC236}">
                <a16:creationId xmlns:a16="http://schemas.microsoft.com/office/drawing/2014/main" id="{EBE1E381-5129-477C-ABAC-4AC04DE883FE}"/>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1C6132D0-377C-472D-AA33-5B1AEE98780E}"/>
              </a:ext>
            </a:extLst>
          </p:cNvPr>
          <p:cNvPicPr>
            <a:picLocks noChangeAspect="1"/>
          </p:cNvPicPr>
          <p:nvPr/>
        </p:nvPicPr>
        <p:blipFill>
          <a:blip r:embed="rId2"/>
          <a:stretch>
            <a:fillRect/>
          </a:stretch>
        </p:blipFill>
        <p:spPr>
          <a:xfrm>
            <a:off x="4152900" y="3429000"/>
            <a:ext cx="838200" cy="647700"/>
          </a:xfrm>
          <a:prstGeom prst="rect">
            <a:avLst/>
          </a:prstGeom>
        </p:spPr>
      </p:pic>
      <p:pic>
        <p:nvPicPr>
          <p:cNvPr id="6" name="Picture 5">
            <a:extLst>
              <a:ext uri="{FF2B5EF4-FFF2-40B4-BE49-F238E27FC236}">
                <a16:creationId xmlns:a16="http://schemas.microsoft.com/office/drawing/2014/main" id="{B1E665CB-41A0-4D9F-8E89-0AE558259B33}"/>
              </a:ext>
            </a:extLst>
          </p:cNvPr>
          <p:cNvPicPr>
            <a:picLocks noChangeAspect="1"/>
          </p:cNvPicPr>
          <p:nvPr/>
        </p:nvPicPr>
        <p:blipFill>
          <a:blip r:embed="rId3"/>
          <a:stretch>
            <a:fillRect/>
          </a:stretch>
        </p:blipFill>
        <p:spPr>
          <a:xfrm>
            <a:off x="7939088" y="4419600"/>
            <a:ext cx="523875" cy="523875"/>
          </a:xfrm>
          <a:prstGeom prst="rect">
            <a:avLst/>
          </a:prstGeom>
        </p:spPr>
      </p:pic>
      <p:pic>
        <p:nvPicPr>
          <p:cNvPr id="7" name="Picture 6">
            <a:extLst>
              <a:ext uri="{FF2B5EF4-FFF2-40B4-BE49-F238E27FC236}">
                <a16:creationId xmlns:a16="http://schemas.microsoft.com/office/drawing/2014/main" id="{C9651CE5-BF02-475C-9020-D11B44D6713A}"/>
              </a:ext>
            </a:extLst>
          </p:cNvPr>
          <p:cNvPicPr>
            <a:picLocks noChangeAspect="1"/>
          </p:cNvPicPr>
          <p:nvPr/>
        </p:nvPicPr>
        <p:blipFill>
          <a:blip r:embed="rId4"/>
          <a:stretch>
            <a:fillRect/>
          </a:stretch>
        </p:blipFill>
        <p:spPr>
          <a:xfrm>
            <a:off x="5981701" y="5510702"/>
            <a:ext cx="3390900" cy="623397"/>
          </a:xfrm>
          <a:prstGeom prst="rect">
            <a:avLst/>
          </a:prstGeom>
        </p:spPr>
      </p:pic>
    </p:spTree>
    <p:extLst>
      <p:ext uri="{BB962C8B-B14F-4D97-AF65-F5344CB8AC3E}">
        <p14:creationId xmlns:p14="http://schemas.microsoft.com/office/powerpoint/2010/main" val="150014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5C0E1A1-001F-4A9E-AD52-9F0E14924F5A}"/>
              </a:ext>
            </a:extLst>
          </p:cNvPr>
          <p:cNvSpPr>
            <a:spLocks noGrp="1"/>
          </p:cNvSpPr>
          <p:nvPr>
            <p:ph type="ftr" sz="quarter" idx="10"/>
          </p:nvPr>
        </p:nvSpPr>
        <p:spPr/>
        <p:txBody>
          <a:bodyPr/>
          <a:lstStyle/>
          <a:p>
            <a:pPr>
              <a:defRPr/>
            </a:pPr>
            <a:r>
              <a:rPr lang="en-US" dirty="0">
                <a:solidFill>
                  <a:srgbClr val="000000"/>
                </a:solidFill>
              </a:rPr>
              <a:t> </a:t>
            </a:r>
          </a:p>
        </p:txBody>
      </p:sp>
      <p:pic>
        <p:nvPicPr>
          <p:cNvPr id="5" name="Content Placeholder 4" descr="A close up of a logo&#10;&#10;Description automatically generated">
            <a:extLst>
              <a:ext uri="{FF2B5EF4-FFF2-40B4-BE49-F238E27FC236}">
                <a16:creationId xmlns:a16="http://schemas.microsoft.com/office/drawing/2014/main" id="{D340282D-6E36-4547-BB97-0B9F5D1D89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329" y="1981200"/>
            <a:ext cx="4582196" cy="3574256"/>
          </a:xfrm>
        </p:spPr>
      </p:pic>
      <p:pic>
        <p:nvPicPr>
          <p:cNvPr id="6" name="Picture 5" descr="A screenshot of a video game&#10;&#10;Description automatically generated">
            <a:extLst>
              <a:ext uri="{FF2B5EF4-FFF2-40B4-BE49-F238E27FC236}">
                <a16:creationId xmlns:a16="http://schemas.microsoft.com/office/drawing/2014/main" id="{2FBE6899-9220-402B-9CE7-6A390B971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1867" y="1652000"/>
            <a:ext cx="6749431" cy="3903456"/>
          </a:xfrm>
          <a:prstGeom prst="rect">
            <a:avLst/>
          </a:prstGeom>
        </p:spPr>
      </p:pic>
      <p:sp>
        <p:nvSpPr>
          <p:cNvPr id="9" name="Title 1">
            <a:extLst>
              <a:ext uri="{FF2B5EF4-FFF2-40B4-BE49-F238E27FC236}">
                <a16:creationId xmlns:a16="http://schemas.microsoft.com/office/drawing/2014/main" id="{ABF5B51C-6BDF-470E-984C-EC3012A82A92}"/>
              </a:ext>
            </a:extLst>
          </p:cNvPr>
          <p:cNvSpPr>
            <a:spLocks noGrp="1"/>
          </p:cNvSpPr>
          <p:nvPr>
            <p:ph type="title"/>
          </p:nvPr>
        </p:nvSpPr>
        <p:spPr>
          <a:xfrm>
            <a:off x="609600" y="420600"/>
            <a:ext cx="7924800" cy="1066800"/>
          </a:xfrm>
        </p:spPr>
        <p:txBody>
          <a:bodyPr/>
          <a:lstStyle/>
          <a:p>
            <a:r>
              <a:rPr lang="en-US" dirty="0"/>
              <a:t>Topic Modeling</a:t>
            </a:r>
          </a:p>
        </p:txBody>
      </p:sp>
      <p:pic>
        <p:nvPicPr>
          <p:cNvPr id="10" name="Picture 9">
            <a:extLst>
              <a:ext uri="{FF2B5EF4-FFF2-40B4-BE49-F238E27FC236}">
                <a16:creationId xmlns:a16="http://schemas.microsoft.com/office/drawing/2014/main" id="{1EB96F4B-4ACE-40C8-920C-562BD735D874}"/>
              </a:ext>
            </a:extLst>
          </p:cNvPr>
          <p:cNvPicPr>
            <a:picLocks noChangeAspect="1"/>
          </p:cNvPicPr>
          <p:nvPr/>
        </p:nvPicPr>
        <p:blipFill>
          <a:blip r:embed="rId4"/>
          <a:stretch>
            <a:fillRect/>
          </a:stretch>
        </p:blipFill>
        <p:spPr>
          <a:xfrm>
            <a:off x="1301619" y="1410450"/>
            <a:ext cx="838200" cy="647700"/>
          </a:xfrm>
          <a:prstGeom prst="rect">
            <a:avLst/>
          </a:prstGeom>
        </p:spPr>
      </p:pic>
      <p:pic>
        <p:nvPicPr>
          <p:cNvPr id="7" name="Picture 6">
            <a:extLst>
              <a:ext uri="{FF2B5EF4-FFF2-40B4-BE49-F238E27FC236}">
                <a16:creationId xmlns:a16="http://schemas.microsoft.com/office/drawing/2014/main" id="{2624EE6F-87EF-4416-97A1-7671D882F4C6}"/>
              </a:ext>
            </a:extLst>
          </p:cNvPr>
          <p:cNvPicPr>
            <a:picLocks noChangeAspect="1"/>
          </p:cNvPicPr>
          <p:nvPr/>
        </p:nvPicPr>
        <p:blipFill>
          <a:blip r:embed="rId5"/>
          <a:stretch>
            <a:fillRect/>
          </a:stretch>
        </p:blipFill>
        <p:spPr>
          <a:xfrm>
            <a:off x="6722015" y="819060"/>
            <a:ext cx="896190" cy="896190"/>
          </a:xfrm>
          <a:prstGeom prst="rect">
            <a:avLst/>
          </a:prstGeom>
        </p:spPr>
      </p:pic>
    </p:spTree>
    <p:extLst>
      <p:ext uri="{BB962C8B-B14F-4D97-AF65-F5344CB8AC3E}">
        <p14:creationId xmlns:p14="http://schemas.microsoft.com/office/powerpoint/2010/main" val="3891843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0356-E3E2-42DF-BF88-209CE8537205}"/>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C69FDFFA-9C5C-4661-939C-2FC15C399079}"/>
              </a:ext>
            </a:extLst>
          </p:cNvPr>
          <p:cNvSpPr>
            <a:spLocks noGrp="1"/>
          </p:cNvSpPr>
          <p:nvPr>
            <p:ph idx="1"/>
          </p:nvPr>
        </p:nvSpPr>
        <p:spPr/>
        <p:txBody>
          <a:bodyPr/>
          <a:lstStyle/>
          <a:p>
            <a:r>
              <a:rPr lang="en-US" dirty="0"/>
              <a:t>Now that we have seen that the topics discovered in our dataset seem to follow a general logic that may be useful to predict sentiment, we can include them as predictors. You can easily achieve this by performing a Batch Topic Distribution. </a:t>
            </a:r>
            <a:br>
              <a:rPr lang="en-US" dirty="0"/>
            </a:br>
            <a:endParaRPr lang="en-US" dirty="0"/>
          </a:p>
          <a:p>
            <a:endParaRPr lang="en-US" dirty="0"/>
          </a:p>
        </p:txBody>
      </p:sp>
      <p:sp>
        <p:nvSpPr>
          <p:cNvPr id="4" name="Footer Placeholder 3">
            <a:extLst>
              <a:ext uri="{FF2B5EF4-FFF2-40B4-BE49-F238E27FC236}">
                <a16:creationId xmlns:a16="http://schemas.microsoft.com/office/drawing/2014/main" id="{29E3D0F0-0318-468D-AF5D-5699FA8A8E26}"/>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2">
            <a:extLst>
              <a:ext uri="{FF2B5EF4-FFF2-40B4-BE49-F238E27FC236}">
                <a16:creationId xmlns:a16="http://schemas.microsoft.com/office/drawing/2014/main" id="{23533D2E-F994-4568-81EE-B29D16607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7" y="3581400"/>
            <a:ext cx="4733925"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7265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31AD-5D63-4031-961D-4EF5C926EBCE}"/>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0C6E9D35-58E3-4724-98F9-E028EC1A9A99}"/>
              </a:ext>
            </a:extLst>
          </p:cNvPr>
          <p:cNvSpPr>
            <a:spLocks noGrp="1"/>
          </p:cNvSpPr>
          <p:nvPr>
            <p:ph idx="1"/>
          </p:nvPr>
        </p:nvSpPr>
        <p:spPr/>
        <p:txBody>
          <a:bodyPr/>
          <a:lstStyle/>
          <a:p>
            <a:r>
              <a:rPr lang="en-US" dirty="0"/>
              <a:t>When the Batch Topic Distribution is created, we can access the dataset that contains the topic distributions. As seen below, a new field per topic is created whereby its values represent the probabilities for each of the instances.</a:t>
            </a:r>
          </a:p>
          <a:p>
            <a:pPr marL="0" indent="0">
              <a:buNone/>
            </a:pPr>
            <a:endParaRPr lang="en-US" dirty="0"/>
          </a:p>
          <a:p>
            <a:endParaRPr lang="en-US" dirty="0"/>
          </a:p>
        </p:txBody>
      </p:sp>
      <p:sp>
        <p:nvSpPr>
          <p:cNvPr id="4" name="Footer Placeholder 3">
            <a:extLst>
              <a:ext uri="{FF2B5EF4-FFF2-40B4-BE49-F238E27FC236}">
                <a16:creationId xmlns:a16="http://schemas.microsoft.com/office/drawing/2014/main" id="{88667E75-2A34-49CB-9CDB-AFBF0EE6E09C}"/>
              </a:ext>
            </a:extLst>
          </p:cNvPr>
          <p:cNvSpPr>
            <a:spLocks noGrp="1"/>
          </p:cNvSpPr>
          <p:nvPr>
            <p:ph type="ftr" sz="quarter" idx="10"/>
          </p:nvPr>
        </p:nvSpPr>
        <p:spPr/>
        <p:txBody>
          <a:bodyPr/>
          <a:lstStyle/>
          <a:p>
            <a:pPr>
              <a:defRPr/>
            </a:pPr>
            <a:r>
              <a:rPr lang="en-US" dirty="0">
                <a:solidFill>
                  <a:srgbClr val="000000"/>
                </a:solidFill>
              </a:rPr>
              <a:t> </a:t>
            </a:r>
          </a:p>
        </p:txBody>
      </p:sp>
      <p:pic>
        <p:nvPicPr>
          <p:cNvPr id="5" name="Picture 4">
            <a:extLst>
              <a:ext uri="{FF2B5EF4-FFF2-40B4-BE49-F238E27FC236}">
                <a16:creationId xmlns:a16="http://schemas.microsoft.com/office/drawing/2014/main" id="{4F2862CC-4931-4E60-8B82-55E1A498F6B2}"/>
              </a:ext>
            </a:extLst>
          </p:cNvPr>
          <p:cNvPicPr>
            <a:picLocks noChangeAspect="1"/>
          </p:cNvPicPr>
          <p:nvPr/>
        </p:nvPicPr>
        <p:blipFill>
          <a:blip r:embed="rId2"/>
          <a:stretch>
            <a:fillRect/>
          </a:stretch>
        </p:blipFill>
        <p:spPr>
          <a:xfrm>
            <a:off x="2828286" y="3457930"/>
            <a:ext cx="3639827" cy="3059621"/>
          </a:xfrm>
          <a:prstGeom prst="rect">
            <a:avLst/>
          </a:prstGeom>
        </p:spPr>
      </p:pic>
    </p:spTree>
    <p:extLst>
      <p:ext uri="{BB962C8B-B14F-4D97-AF65-F5344CB8AC3E}">
        <p14:creationId xmlns:p14="http://schemas.microsoft.com/office/powerpoint/2010/main" val="2865009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2F05-1EAF-48AE-9B3B-F402F56366D1}"/>
              </a:ext>
            </a:extLst>
          </p:cNvPr>
          <p:cNvSpPr>
            <a:spLocks noGrp="1"/>
          </p:cNvSpPr>
          <p:nvPr>
            <p:ph type="title"/>
          </p:nvPr>
        </p:nvSpPr>
        <p:spPr>
          <a:xfrm>
            <a:off x="1035844" y="78070"/>
            <a:ext cx="6858000" cy="914400"/>
          </a:xfrm>
        </p:spPr>
        <p:txBody>
          <a:bodyPr wrap="square" anchor="ctr">
            <a:normAutofit/>
          </a:bodyPr>
          <a:lstStyle/>
          <a:p>
            <a:r>
              <a:rPr lang="en-US" dirty="0"/>
              <a:t>Evaluation:</a:t>
            </a:r>
          </a:p>
        </p:txBody>
      </p:sp>
      <p:sp>
        <p:nvSpPr>
          <p:cNvPr id="3" name="Content Placeholder 2">
            <a:extLst>
              <a:ext uri="{FF2B5EF4-FFF2-40B4-BE49-F238E27FC236}">
                <a16:creationId xmlns:a16="http://schemas.microsoft.com/office/drawing/2014/main" id="{AF850362-F90F-4E6E-9025-0FFA145B88E7}"/>
              </a:ext>
            </a:extLst>
          </p:cNvPr>
          <p:cNvSpPr>
            <a:spLocks noGrp="1"/>
          </p:cNvSpPr>
          <p:nvPr>
            <p:ph sz="half" idx="1"/>
          </p:nvPr>
        </p:nvSpPr>
        <p:spPr>
          <a:xfrm>
            <a:off x="685800" y="1524000"/>
            <a:ext cx="3810000" cy="4572000"/>
          </a:xfrm>
        </p:spPr>
        <p:txBody>
          <a:bodyPr wrap="square" anchor="t">
            <a:normAutofit/>
          </a:bodyPr>
          <a:lstStyle/>
          <a:p>
            <a:r>
              <a:rPr lang="en-US" sz="2600"/>
              <a:t>Now we can recreate a model by using the topics as input fields. Amazingly, the resulting tree is very different from the one created before. Now the most important values to predict sentiment are not the single terms anymore, but the topics!</a:t>
            </a:r>
          </a:p>
          <a:p>
            <a:endParaRPr lang="en-US" sz="2600"/>
          </a:p>
          <a:p>
            <a:endParaRPr lang="en-US" sz="2600"/>
          </a:p>
        </p:txBody>
      </p:sp>
      <p:pic>
        <p:nvPicPr>
          <p:cNvPr id="5" name="Picture 4">
            <a:extLst>
              <a:ext uri="{FF2B5EF4-FFF2-40B4-BE49-F238E27FC236}">
                <a16:creationId xmlns:a16="http://schemas.microsoft.com/office/drawing/2014/main" id="{726377C2-1F87-491C-ABE4-2A35FFBE2C97}"/>
              </a:ext>
            </a:extLst>
          </p:cNvPr>
          <p:cNvPicPr>
            <a:picLocks noChangeAspect="1"/>
          </p:cNvPicPr>
          <p:nvPr/>
        </p:nvPicPr>
        <p:blipFill rotWithShape="1">
          <a:blip r:embed="rId2"/>
          <a:srcRect l="51250" t="9931" r="2639" b="7653"/>
          <a:stretch/>
        </p:blipFill>
        <p:spPr>
          <a:xfrm>
            <a:off x="4648202" y="1524000"/>
            <a:ext cx="4178773" cy="4201244"/>
          </a:xfrm>
          <a:prstGeom prst="rect">
            <a:avLst/>
          </a:prstGeom>
          <a:noFill/>
        </p:spPr>
      </p:pic>
      <p:sp>
        <p:nvSpPr>
          <p:cNvPr id="4" name="Footer Placeholder 3">
            <a:extLst>
              <a:ext uri="{FF2B5EF4-FFF2-40B4-BE49-F238E27FC236}">
                <a16:creationId xmlns:a16="http://schemas.microsoft.com/office/drawing/2014/main" id="{3F872B13-FA49-49E4-9564-6B0317DF870F}"/>
              </a:ext>
            </a:extLst>
          </p:cNvPr>
          <p:cNvSpPr>
            <a:spLocks noGrp="1"/>
          </p:cNvSpPr>
          <p:nvPr>
            <p:ph type="ftr" sz="quarter" idx="10"/>
          </p:nvPr>
        </p:nvSpPr>
        <p:spPr>
          <a:xfrm>
            <a:off x="3124200" y="6477000"/>
            <a:ext cx="2895600" cy="457200"/>
          </a:xfrm>
        </p:spPr>
        <p:txBody>
          <a:bodyPr wrap="square" anchor="t">
            <a:normAutofit/>
          </a:bodyPr>
          <a:lstStyle/>
          <a:p>
            <a:pPr>
              <a:spcAft>
                <a:spcPts val="600"/>
              </a:spcAft>
              <a:defRPr/>
            </a:pPr>
            <a:r>
              <a:rPr lang="en-US" dirty="0">
                <a:solidFill>
                  <a:srgbClr val="000000"/>
                </a:solidFill>
              </a:rPr>
              <a:t> </a:t>
            </a:r>
          </a:p>
        </p:txBody>
      </p:sp>
      <p:sp>
        <p:nvSpPr>
          <p:cNvPr id="10" name="Slide Number Placeholder 5">
            <a:extLst>
              <a:ext uri="{FF2B5EF4-FFF2-40B4-BE49-F238E27FC236}">
                <a16:creationId xmlns:a16="http://schemas.microsoft.com/office/drawing/2014/main" id="{99C0B05C-53BC-4FD0-AFEA-2C2F95A04A98}"/>
              </a:ext>
            </a:extLst>
          </p:cNvPr>
          <p:cNvSpPr>
            <a:spLocks noGrp="1"/>
          </p:cNvSpPr>
          <p:nvPr>
            <p:ph type="sldNum" sz="quarter" idx="11"/>
          </p:nvPr>
        </p:nvSpPr>
        <p:spPr>
          <a:xfrm>
            <a:off x="7239000" y="6400799"/>
            <a:ext cx="1905000" cy="457200"/>
          </a:xfrm>
        </p:spPr>
        <p:txBody>
          <a:bodyPr/>
          <a:lstStyle/>
          <a:p>
            <a:pPr>
              <a:spcAft>
                <a:spcPts val="600"/>
              </a:spcAft>
              <a:defRPr/>
            </a:pPr>
            <a:fld id="{69C53DFD-5AB4-42B8-8E98-B1225630AE0E}" type="slidenum">
              <a:rPr lang="en-US" altLang="en-US">
                <a:solidFill>
                  <a:srgbClr val="000000"/>
                </a:solidFill>
              </a:rPr>
              <a:pPr>
                <a:spcAft>
                  <a:spcPts val="600"/>
                </a:spcAft>
                <a:defRPr/>
              </a:pPr>
              <a:t>40</a:t>
            </a:fld>
            <a:endParaRPr lang="en-US" altLang="en-US">
              <a:solidFill>
                <a:srgbClr val="000000"/>
              </a:solidFill>
            </a:endParaRPr>
          </a:p>
        </p:txBody>
      </p:sp>
    </p:spTree>
    <p:extLst>
      <p:ext uri="{BB962C8B-B14F-4D97-AF65-F5344CB8AC3E}">
        <p14:creationId xmlns:p14="http://schemas.microsoft.com/office/powerpoint/2010/main" val="3050950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BAFB0-200C-4DFB-B052-4417766E3D3E}"/>
              </a:ext>
            </a:extLst>
          </p:cNvPr>
          <p:cNvSpPr>
            <a:spLocks noGrp="1"/>
          </p:cNvSpPr>
          <p:nvPr>
            <p:ph type="title"/>
          </p:nvPr>
        </p:nvSpPr>
        <p:spPr/>
        <p:txBody>
          <a:bodyPr/>
          <a:lstStyle/>
          <a:p>
            <a:r>
              <a:rPr lang="en-US" dirty="0"/>
              <a:t>Model Summary Report</a:t>
            </a:r>
          </a:p>
        </p:txBody>
      </p:sp>
      <p:sp>
        <p:nvSpPr>
          <p:cNvPr id="3" name="Content Placeholder 2">
            <a:extLst>
              <a:ext uri="{FF2B5EF4-FFF2-40B4-BE49-F238E27FC236}">
                <a16:creationId xmlns:a16="http://schemas.microsoft.com/office/drawing/2014/main" id="{7B6923BF-DCCE-4D66-9728-83C17A7A57A5}"/>
              </a:ext>
            </a:extLst>
          </p:cNvPr>
          <p:cNvSpPr>
            <a:spLocks noGrp="1"/>
          </p:cNvSpPr>
          <p:nvPr>
            <p:ph idx="1"/>
          </p:nvPr>
        </p:nvSpPr>
        <p:spPr/>
        <p:txBody>
          <a:bodyPr/>
          <a:lstStyle/>
          <a:p>
            <a:r>
              <a:rPr lang="en-US" dirty="0"/>
              <a:t>With this report, we see that the topic ‘Bad’ is of highest priority to determine the sentiment of the text.</a:t>
            </a:r>
          </a:p>
          <a:p>
            <a:endParaRPr lang="en-US" dirty="0"/>
          </a:p>
        </p:txBody>
      </p:sp>
      <p:sp>
        <p:nvSpPr>
          <p:cNvPr id="4" name="Footer Placeholder 3">
            <a:extLst>
              <a:ext uri="{FF2B5EF4-FFF2-40B4-BE49-F238E27FC236}">
                <a16:creationId xmlns:a16="http://schemas.microsoft.com/office/drawing/2014/main" id="{9D6DC348-7300-43B1-AC30-15A2A92F7FF8}"/>
              </a:ext>
            </a:extLst>
          </p:cNvPr>
          <p:cNvSpPr>
            <a:spLocks noGrp="1"/>
          </p:cNvSpPr>
          <p:nvPr>
            <p:ph type="ftr" sz="quarter" idx="10"/>
          </p:nvPr>
        </p:nvSpPr>
        <p:spPr/>
        <p:txBody>
          <a:bodyPr/>
          <a:lstStyle/>
          <a:p>
            <a:pPr>
              <a:defRPr/>
            </a:pPr>
            <a:r>
              <a:rPr lang="en-US" dirty="0">
                <a:solidFill>
                  <a:srgbClr val="000000"/>
                </a:solidFill>
              </a:rPr>
              <a:t> </a:t>
            </a:r>
          </a:p>
        </p:txBody>
      </p:sp>
      <p:pic>
        <p:nvPicPr>
          <p:cNvPr id="5" name="Content Placeholder 8" descr="A picture containing computer, sitting, black&#10;&#10;Description automatically generated">
            <a:extLst>
              <a:ext uri="{FF2B5EF4-FFF2-40B4-BE49-F238E27FC236}">
                <a16:creationId xmlns:a16="http://schemas.microsoft.com/office/drawing/2014/main" id="{CC610B72-4B6C-42A6-867A-04995CBD4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533525" y="2735356"/>
            <a:ext cx="6238875"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4282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C8543-C414-4C09-8555-7CEFE513B0F7}"/>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938A35E4-1E68-42E2-A484-CDDE57ED9EA3}"/>
              </a:ext>
            </a:extLst>
          </p:cNvPr>
          <p:cNvSpPr>
            <a:spLocks noGrp="1"/>
          </p:cNvSpPr>
          <p:nvPr>
            <p:ph idx="1"/>
          </p:nvPr>
        </p:nvSpPr>
        <p:spPr/>
        <p:txBody>
          <a:bodyPr/>
          <a:lstStyle/>
          <a:p>
            <a:r>
              <a:rPr lang="en-US" sz="2400" dirty="0">
                <a:solidFill>
                  <a:schemeClr val="accent2"/>
                </a:solidFill>
                <a:hlinkClick r:id="rId2">
                  <a:extLst>
                    <a:ext uri="{A12FA001-AC4F-418D-AE19-62706E023703}">
                      <ahyp:hlinkClr xmlns:ahyp="http://schemas.microsoft.com/office/drawing/2018/hyperlinkcolor" val="tx"/>
                    </a:ext>
                  </a:extLst>
                </a:hlinkClick>
              </a:rPr>
              <a:t>https://youtu.be/XmF61NxrDJs</a:t>
            </a:r>
            <a:endParaRPr lang="en-US" sz="2400" dirty="0">
              <a:solidFill>
                <a:schemeClr val="accent2"/>
              </a:solidFill>
            </a:endParaRPr>
          </a:p>
          <a:p>
            <a:r>
              <a:rPr lang="en-US" sz="2400" dirty="0">
                <a:solidFill>
                  <a:schemeClr val="accent2"/>
                </a:solidFill>
                <a:hlinkClick r:id="rId3">
                  <a:extLst>
                    <a:ext uri="{A12FA001-AC4F-418D-AE19-62706E023703}">
                      <ahyp:hlinkClr xmlns:ahyp="http://schemas.microsoft.com/office/drawing/2018/hyperlinkcolor" val="tx"/>
                    </a:ext>
                  </a:extLst>
                </a:hlinkClick>
              </a:rPr>
              <a:t>https://towardsdatascience.com/light-on-math-machine-learning-intuitive-guide-to-latent-dirichlet-allocation-437c81220158</a:t>
            </a:r>
            <a:endParaRPr lang="en-US" sz="2400" dirty="0">
              <a:solidFill>
                <a:schemeClr val="accent2"/>
              </a:solidFill>
            </a:endParaRPr>
          </a:p>
          <a:p>
            <a:r>
              <a:rPr lang="en-US" sz="2400" dirty="0">
                <a:solidFill>
                  <a:schemeClr val="accent2"/>
                </a:solidFill>
                <a:hlinkClick r:id="rId4">
                  <a:extLst>
                    <a:ext uri="{A12FA001-AC4F-418D-AE19-62706E023703}">
                      <ahyp:hlinkClr xmlns:ahyp="http://schemas.microsoft.com/office/drawing/2018/hyperlinkcolor" val="tx"/>
                    </a:ext>
                  </a:extLst>
                </a:hlinkClick>
              </a:rPr>
              <a:t>https://blog.bigml.com/2018/07/12/text-analysis-enhancements-22-languages-and-more-pre-processing-options/</a:t>
            </a:r>
            <a:endParaRPr lang="en-US" sz="2400" dirty="0">
              <a:solidFill>
                <a:schemeClr val="accent2"/>
              </a:solidFill>
            </a:endParaRPr>
          </a:p>
          <a:p>
            <a:r>
              <a:rPr lang="en-US" sz="2400" dirty="0">
                <a:solidFill>
                  <a:schemeClr val="accent2"/>
                </a:solidFill>
                <a:hlinkClick r:id="rId5">
                  <a:extLst>
                    <a:ext uri="{A12FA001-AC4F-418D-AE19-62706E023703}">
                      <ahyp:hlinkClr xmlns:ahyp="http://schemas.microsoft.com/office/drawing/2018/hyperlinkcolor" val="tx"/>
                    </a:ext>
                  </a:extLst>
                </a:hlinkClick>
              </a:rPr>
              <a:t>https://blog.bigml.com/2016/11/16/introduction-to-topic-models/</a:t>
            </a:r>
            <a:endParaRPr lang="en-US" sz="2400" dirty="0">
              <a:solidFill>
                <a:schemeClr val="accent2"/>
              </a:solidFill>
            </a:endParaRPr>
          </a:p>
          <a:p>
            <a:r>
              <a:rPr lang="en-US" sz="2400" dirty="0">
                <a:solidFill>
                  <a:schemeClr val="accent2"/>
                </a:solidFill>
                <a:hlinkClick r:id="rId6">
                  <a:extLst>
                    <a:ext uri="{A12FA001-AC4F-418D-AE19-62706E023703}">
                      <ahyp:hlinkClr xmlns:ahyp="http://schemas.microsoft.com/office/drawing/2018/hyperlinkcolor" val="tx"/>
                    </a:ext>
                  </a:extLst>
                </a:hlinkClick>
              </a:rPr>
              <a:t>https://youtu.be/OjKJp5kvpNs?list=PL1bKyu9GtNYHcjGa6ulrvRVcm1lAB8he3</a:t>
            </a:r>
            <a:endParaRPr lang="en-US" sz="2400" dirty="0">
              <a:solidFill>
                <a:schemeClr val="accent2"/>
              </a:solidFill>
            </a:endParaRPr>
          </a:p>
          <a:p>
            <a:r>
              <a:rPr lang="en-US" sz="2400" dirty="0">
                <a:solidFill>
                  <a:schemeClr val="accent2"/>
                </a:solidFill>
                <a:hlinkClick r:id="rId7">
                  <a:extLst>
                    <a:ext uri="{A12FA001-AC4F-418D-AE19-62706E023703}">
                      <ahyp:hlinkClr xmlns:ahyp="http://schemas.microsoft.com/office/drawing/2018/hyperlinkcolor" val="tx"/>
                    </a:ext>
                  </a:extLst>
                </a:hlinkClick>
              </a:rPr>
              <a:t>https://blog.bigml.com/2016/11/25/who-wants-to-know-the-inner-workings-of-lda/</a:t>
            </a:r>
            <a:endParaRPr lang="en-US" sz="2400" dirty="0">
              <a:solidFill>
                <a:schemeClr val="accent2"/>
              </a:solidFill>
            </a:endParaRPr>
          </a:p>
          <a:p>
            <a:endParaRPr lang="en-US" sz="2400" dirty="0">
              <a:solidFill>
                <a:schemeClr val="accent2"/>
              </a:solidFill>
            </a:endParaRPr>
          </a:p>
          <a:p>
            <a:endParaRPr lang="en-US" sz="2400" dirty="0">
              <a:solidFill>
                <a:schemeClr val="accent2"/>
              </a:solidFill>
            </a:endParaRPr>
          </a:p>
        </p:txBody>
      </p:sp>
      <p:sp>
        <p:nvSpPr>
          <p:cNvPr id="4" name="Footer Placeholder 3">
            <a:extLst>
              <a:ext uri="{FF2B5EF4-FFF2-40B4-BE49-F238E27FC236}">
                <a16:creationId xmlns:a16="http://schemas.microsoft.com/office/drawing/2014/main" id="{4E9B5E46-A935-4B1C-ACD6-D23FCD38FC90}"/>
              </a:ext>
            </a:extLst>
          </p:cNvPr>
          <p:cNvSpPr>
            <a:spLocks noGrp="1"/>
          </p:cNvSpPr>
          <p:nvPr>
            <p:ph type="ftr" sz="quarter" idx="10"/>
          </p:nvPr>
        </p:nvSpPr>
        <p:spPr/>
        <p:txBody>
          <a:bodyPr/>
          <a:lstStyle/>
          <a:p>
            <a:pPr>
              <a:defRPr/>
            </a:pPr>
            <a:r>
              <a:rPr lang="en-US" dirty="0">
                <a:solidFill>
                  <a:srgbClr val="000000"/>
                </a:solidFill>
              </a:rPr>
              <a:t> </a:t>
            </a:r>
          </a:p>
        </p:txBody>
      </p:sp>
    </p:spTree>
    <p:extLst>
      <p:ext uri="{BB962C8B-B14F-4D97-AF65-F5344CB8AC3E}">
        <p14:creationId xmlns:p14="http://schemas.microsoft.com/office/powerpoint/2010/main" val="1546355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altLang="zh-CN" sz="3200">
                <a:ea typeface="宋体" panose="02010600030101010101" pitchFamily="2" charset="-122"/>
              </a:rPr>
              <a:t>Question?</a:t>
            </a:r>
          </a:p>
        </p:txBody>
      </p:sp>
      <p:sp>
        <p:nvSpPr>
          <p:cNvPr id="122883"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222222"/>
                </a:solidFill>
                <a:latin typeface="Arial" panose="020B0604020202020204" pitchFamily="34" charset="0"/>
              </a:defRPr>
            </a:lvl1pPr>
            <a:lvl2pPr marL="742950" indent="-285750">
              <a:spcBef>
                <a:spcPct val="20000"/>
              </a:spcBef>
              <a:buChar char="–"/>
              <a:defRPr sz="2600">
                <a:solidFill>
                  <a:srgbClr val="222222"/>
                </a:solidFill>
                <a:latin typeface="Arial" panose="020B0604020202020204" pitchFamily="34" charset="0"/>
              </a:defRPr>
            </a:lvl2pPr>
            <a:lvl3pPr marL="1143000" indent="-228600">
              <a:spcBef>
                <a:spcPct val="20000"/>
              </a:spcBef>
              <a:buChar char="•"/>
              <a:defRPr sz="2400">
                <a:solidFill>
                  <a:srgbClr val="222222"/>
                </a:solidFill>
                <a:latin typeface="Arial" panose="020B0604020202020204" pitchFamily="34" charset="0"/>
              </a:defRPr>
            </a:lvl3pPr>
            <a:lvl4pPr marL="1600200" indent="-228600">
              <a:spcBef>
                <a:spcPct val="20000"/>
              </a:spcBef>
              <a:buChar char="–"/>
              <a:defRPr sz="24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C22F261-4FD2-4574-982F-539B8515C54B}" type="slidenum">
              <a:rPr lang="en-US" altLang="zh-CN" sz="1400">
                <a:solidFill>
                  <a:schemeClr val="tx1"/>
                </a:solidFill>
                <a:latin typeface="Times New Roman" panose="02020603050405020304" pitchFamily="18" charset="0"/>
                <a:ea typeface="宋体" panose="02010600030101010101" pitchFamily="2" charset="-122"/>
              </a:rPr>
              <a:pPr>
                <a:spcBef>
                  <a:spcPct val="0"/>
                </a:spcBef>
                <a:buFontTx/>
                <a:buNone/>
              </a:pPr>
              <a:t>43</a:t>
            </a:fld>
            <a:endParaRPr lang="en-US" altLang="zh-CN" sz="1400">
              <a:solidFill>
                <a:schemeClr val="tx1"/>
              </a:solidFill>
              <a:latin typeface="Times New Roman" panose="02020603050405020304" pitchFamily="18" charset="0"/>
              <a:ea typeface="宋体" panose="02010600030101010101" pitchFamily="2" charset="-122"/>
            </a:endParaRPr>
          </a:p>
        </p:txBody>
      </p:sp>
      <p:pic>
        <p:nvPicPr>
          <p:cNvPr id="122884" name="Picture 5" descr="ques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514600"/>
            <a:ext cx="20574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0"/>
          </p:nvPr>
        </p:nvSpPr>
        <p:spPr/>
        <p:txBody>
          <a:bodyPr/>
          <a:lstStyle/>
          <a:p>
            <a:pPr>
              <a:defRPr/>
            </a:pPr>
            <a:r>
              <a:rPr lang="en-US" dirty="0"/>
              <a:t> </a:t>
            </a:r>
          </a:p>
        </p:txBody>
      </p:sp>
    </p:spTree>
    <p:extLst>
      <p:ext uri="{BB962C8B-B14F-4D97-AF65-F5344CB8AC3E}">
        <p14:creationId xmlns:p14="http://schemas.microsoft.com/office/powerpoint/2010/main" val="56812708"/>
      </p:ext>
    </p:extLst>
  </p:cSld>
  <p:clrMapOvr>
    <a:masterClrMapping/>
  </p:clrMapOvr>
</p:sld>
</file>

<file path=ppt/theme/theme1.xml><?xml version="1.0" encoding="utf-8"?>
<a:theme xmlns:a="http://schemas.openxmlformats.org/drawingml/2006/main" name="1_songpres">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ngpres">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ongpres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ngpres 2">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ngpre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ngpres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ngpres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ngpres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asic ischool ppt template is018">
  <a:themeElements>
    <a:clrScheme name="Custom 4">
      <a:dk1>
        <a:srgbClr val="FFC600"/>
      </a:dk1>
      <a:lt1>
        <a:srgbClr val="FFFFFF"/>
      </a:lt1>
      <a:dk2>
        <a:srgbClr val="003478"/>
      </a:dk2>
      <a:lt2>
        <a:srgbClr val="FFC600"/>
      </a:lt2>
      <a:accent1>
        <a:srgbClr val="75AADB"/>
      </a:accent1>
      <a:accent2>
        <a:srgbClr val="9C182F"/>
      </a:accent2>
      <a:accent3>
        <a:srgbClr val="959300"/>
      </a:accent3>
      <a:accent4>
        <a:srgbClr val="006098"/>
      </a:accent4>
      <a:accent5>
        <a:srgbClr val="FF7D00"/>
      </a:accent5>
      <a:accent6>
        <a:srgbClr val="3F3F3F"/>
      </a:accent6>
      <a:hlink>
        <a:srgbClr val="595959"/>
      </a:hlink>
      <a:folHlink>
        <a:srgbClr val="7F7F7F"/>
      </a:folHlink>
    </a:clrScheme>
    <a:fontScheme name="ischool">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ctr">
          <a:defRPr sz="2400" dirty="0" smtClean="0">
            <a:solidFill>
              <a:schemeClr val="bg1"/>
            </a:solidFill>
            <a:latin typeface="+mj-lt"/>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650</TotalTime>
  <Words>2756</Words>
  <Application>Microsoft Office PowerPoint</Application>
  <PresentationFormat>On-screen Show (4:3)</PresentationFormat>
  <Paragraphs>273</Paragraphs>
  <Slides>43</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43</vt:i4>
      </vt:variant>
    </vt:vector>
  </HeadingPairs>
  <TitlesOfParts>
    <vt:vector size="50" baseType="lpstr">
      <vt:lpstr>Arial</vt:lpstr>
      <vt:lpstr>Calibri</vt:lpstr>
      <vt:lpstr>Times New Roman</vt:lpstr>
      <vt:lpstr>Times New Roman</vt:lpstr>
      <vt:lpstr>Wingdings</vt:lpstr>
      <vt:lpstr>1_songpres</vt:lpstr>
      <vt:lpstr>basic ischool ppt template is018</vt:lpstr>
      <vt:lpstr>PowerPoint Presentation</vt:lpstr>
      <vt:lpstr>BigML</vt:lpstr>
      <vt:lpstr>BigML: Uses</vt:lpstr>
      <vt:lpstr>Text Data Analysis using BigML</vt:lpstr>
      <vt:lpstr>Topic Models</vt:lpstr>
      <vt:lpstr>Latent Dirichlet Allocation (LDA)</vt:lpstr>
      <vt:lpstr>Latent Dirichlet Allocation (LDA)</vt:lpstr>
      <vt:lpstr>Latent Dirichlet Allocation (LDA)</vt:lpstr>
      <vt:lpstr>Specification of LDA</vt:lpstr>
      <vt:lpstr>How LDA works </vt:lpstr>
      <vt:lpstr>How LDA works </vt:lpstr>
      <vt:lpstr>Topic Modeling with BigML</vt:lpstr>
      <vt:lpstr>Steps:</vt:lpstr>
      <vt:lpstr>PowerPoint Presentation</vt:lpstr>
      <vt:lpstr>Exploratory Data Analysis:</vt:lpstr>
      <vt:lpstr>PowerPoint Presentation</vt:lpstr>
      <vt:lpstr>Configuring Topic Model</vt:lpstr>
      <vt:lpstr>Basic Configuration:</vt:lpstr>
      <vt:lpstr>Advanced Configuration</vt:lpstr>
      <vt:lpstr>Advanced Configuration </vt:lpstr>
      <vt:lpstr>Advanced Configuration</vt:lpstr>
      <vt:lpstr>Creating Topic Model:</vt:lpstr>
      <vt:lpstr>Result of Topic Modeling</vt:lpstr>
      <vt:lpstr>Analyzing the Topic Model – Topic Map</vt:lpstr>
      <vt:lpstr>Analyzing Topic Model – Topic Map</vt:lpstr>
      <vt:lpstr>Analyzing Topic Model – Topic Map</vt:lpstr>
      <vt:lpstr>Analyzing Topic Model – Term Chart</vt:lpstr>
      <vt:lpstr>Analyzing Topic Model – Term Chart</vt:lpstr>
      <vt:lpstr>Making Predictions</vt:lpstr>
      <vt:lpstr>Topic Distribution:</vt:lpstr>
      <vt:lpstr>Topic Distribution</vt:lpstr>
      <vt:lpstr>IMDB Movie Sentiment Analysis:</vt:lpstr>
      <vt:lpstr>Creating a decision tree</vt:lpstr>
      <vt:lpstr>Example decision tree:</vt:lpstr>
      <vt:lpstr>Topic Modeling</vt:lpstr>
      <vt:lpstr>Topic Modeling</vt:lpstr>
      <vt:lpstr>Topic Modeling</vt:lpstr>
      <vt:lpstr>Evaluation</vt:lpstr>
      <vt:lpstr>Evaluation</vt:lpstr>
      <vt:lpstr>Evaluation:</vt:lpstr>
      <vt:lpstr>Model Summary Report</vt:lpstr>
      <vt:lpstr>Sources:</vt:lpstr>
      <vt:lpstr>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Devarahalli Nanjappa</dc:creator>
  <cp:lastModifiedBy>Aditya Devarahalli Nanjappa</cp:lastModifiedBy>
  <cp:revision>7</cp:revision>
  <dcterms:created xsi:type="dcterms:W3CDTF">2020-03-26T03:43:49Z</dcterms:created>
  <dcterms:modified xsi:type="dcterms:W3CDTF">2020-06-26T16:00:23Z</dcterms:modified>
</cp:coreProperties>
</file>